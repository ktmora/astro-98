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Darker Grotesque Medium"/>
      <p:regular r:id="rId20"/>
      <p:bold r:id="rId21"/>
    </p:embeddedFont>
    <p:embeddedFont>
      <p:font typeface="Darker Grotesque"/>
      <p:regular r:id="rId22"/>
      <p:bold r:id="rId23"/>
    </p:embeddedFont>
    <p:embeddedFont>
      <p:font typeface="Syncopate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arkerGrotesqueMedium-regular.fntdata"/><Relationship Id="rId22" Type="http://schemas.openxmlformats.org/officeDocument/2006/relationships/font" Target="fonts/DarkerGrotesque-regular.fntdata"/><Relationship Id="rId21" Type="http://schemas.openxmlformats.org/officeDocument/2006/relationships/font" Target="fonts/DarkerGrotesqueMedium-bold.fntdata"/><Relationship Id="rId24" Type="http://schemas.openxmlformats.org/officeDocument/2006/relationships/font" Target="fonts/Syncopate-regular.fntdata"/><Relationship Id="rId23" Type="http://schemas.openxmlformats.org/officeDocument/2006/relationships/font" Target="fonts/DarkerGrotesq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Syncopat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6b68183cf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6b68183cf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389c295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389c295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6940ee6346_0_1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6940ee6346_0_1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6df237bd2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6df237bd2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6f24fe2b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6f24fe2b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68635b25fd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68635b25fd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6f3367aadd_0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6f3367aadd_0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f46a11c4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6f46a11c4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6f35ec2fb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6f35ec2fb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6f46a11c47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6f46a11c47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6362d74d34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6362d74d34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6f9ac8c98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6f9ac8c98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72a9b4e4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72a9b4e4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6f388b0544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6f388b0544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6df237bd28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6df237bd28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1339469" y="2304899"/>
            <a:ext cx="2197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subTitle"/>
          </p:nvPr>
        </p:nvSpPr>
        <p:spPr>
          <a:xfrm>
            <a:off x="4603550" y="2304900"/>
            <a:ext cx="2197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subTitle"/>
          </p:nvPr>
        </p:nvSpPr>
        <p:spPr>
          <a:xfrm>
            <a:off x="2330069" y="4051150"/>
            <a:ext cx="2197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4" type="subTitle"/>
          </p:nvPr>
        </p:nvSpPr>
        <p:spPr>
          <a:xfrm>
            <a:off x="5670350" y="4051153"/>
            <a:ext cx="2197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5" type="title"/>
          </p:nvPr>
        </p:nvSpPr>
        <p:spPr>
          <a:xfrm>
            <a:off x="1797569" y="1263225"/>
            <a:ext cx="1281300" cy="733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6" type="title"/>
          </p:nvPr>
        </p:nvSpPr>
        <p:spPr>
          <a:xfrm>
            <a:off x="2788169" y="3009350"/>
            <a:ext cx="12813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hasCustomPrompt="1" idx="7" type="title"/>
          </p:nvPr>
        </p:nvSpPr>
        <p:spPr>
          <a:xfrm>
            <a:off x="5062250" y="1263225"/>
            <a:ext cx="12801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8" type="title"/>
          </p:nvPr>
        </p:nvSpPr>
        <p:spPr>
          <a:xfrm>
            <a:off x="6129050" y="3009350"/>
            <a:ext cx="12801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9" type="subTitle"/>
          </p:nvPr>
        </p:nvSpPr>
        <p:spPr>
          <a:xfrm>
            <a:off x="1339469" y="2047950"/>
            <a:ext cx="219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3" type="subTitle"/>
          </p:nvPr>
        </p:nvSpPr>
        <p:spPr>
          <a:xfrm>
            <a:off x="2330069" y="3794330"/>
            <a:ext cx="219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4" type="subTitle"/>
          </p:nvPr>
        </p:nvSpPr>
        <p:spPr>
          <a:xfrm>
            <a:off x="4603550" y="2047950"/>
            <a:ext cx="219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5" type="subTitle"/>
          </p:nvPr>
        </p:nvSpPr>
        <p:spPr>
          <a:xfrm>
            <a:off x="5670350" y="3794330"/>
            <a:ext cx="219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-2202096" y="-2873489"/>
            <a:ext cx="4273200" cy="4273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-1770012" y="-3094339"/>
            <a:ext cx="4234200" cy="4062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8405195" y="2769088"/>
            <a:ext cx="4234200" cy="4062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7646820" y="3912450"/>
            <a:ext cx="3856800" cy="3856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1096525" y="1899963"/>
            <a:ext cx="33627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type="title"/>
          </p:nvPr>
        </p:nvSpPr>
        <p:spPr>
          <a:xfrm>
            <a:off x="1096525" y="1283225"/>
            <a:ext cx="6951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2" type="subTitle"/>
          </p:nvPr>
        </p:nvSpPr>
        <p:spPr>
          <a:xfrm>
            <a:off x="4684775" y="1899963"/>
            <a:ext cx="33627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3" name="Google Shape;73;p14"/>
          <p:cNvGrpSpPr/>
          <p:nvPr/>
        </p:nvGrpSpPr>
        <p:grpSpPr>
          <a:xfrm rot="710823">
            <a:off x="434145" y="679403"/>
            <a:ext cx="792242" cy="467247"/>
            <a:chOff x="1184410" y="1913253"/>
            <a:chExt cx="792241" cy="467247"/>
          </a:xfrm>
        </p:grpSpPr>
        <p:sp>
          <p:nvSpPr>
            <p:cNvPr id="74" name="Google Shape;74;p14"/>
            <p:cNvSpPr/>
            <p:nvPr/>
          </p:nvSpPr>
          <p:spPr>
            <a:xfrm rot="71955">
              <a:off x="1186339" y="2192230"/>
              <a:ext cx="186341" cy="186341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 rot="68065">
              <a:off x="1570801" y="2051945"/>
              <a:ext cx="151530" cy="15243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 rot="74722">
              <a:off x="1878990" y="1914292"/>
              <a:ext cx="96623" cy="9692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4"/>
          <p:cNvSpPr/>
          <p:nvPr/>
        </p:nvSpPr>
        <p:spPr>
          <a:xfrm>
            <a:off x="2071111" y="373850"/>
            <a:ext cx="283533" cy="331295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2734456" y="309049"/>
            <a:ext cx="186277" cy="29400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solidFill>
            <a:schemeClr val="dk2"/>
          </a:solidFill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526943" y="1785717"/>
            <a:ext cx="186277" cy="29400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solidFill>
            <a:schemeClr val="dk2"/>
          </a:solidFill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7381587" y="4416982"/>
            <a:ext cx="342915" cy="374023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8533931" y="2656799"/>
            <a:ext cx="186277" cy="29400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solidFill>
            <a:schemeClr val="dk2"/>
          </a:solidFill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" name="Google Shape;82;p14"/>
          <p:cNvGrpSpPr/>
          <p:nvPr/>
        </p:nvGrpSpPr>
        <p:grpSpPr>
          <a:xfrm rot="9927058">
            <a:off x="7849756" y="4196941"/>
            <a:ext cx="772556" cy="513550"/>
            <a:chOff x="1026356" y="2254225"/>
            <a:chExt cx="772582" cy="513568"/>
          </a:xfrm>
        </p:grpSpPr>
        <p:sp>
          <p:nvSpPr>
            <p:cNvPr id="83" name="Google Shape;83;p14"/>
            <p:cNvSpPr/>
            <p:nvPr/>
          </p:nvSpPr>
          <p:spPr>
            <a:xfrm rot="-160681">
              <a:off x="1030604" y="2577341"/>
              <a:ext cx="186203" cy="18620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 rot="-163255">
              <a:off x="1403571" y="2412688"/>
              <a:ext cx="151671" cy="15257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 rot="-160028">
              <a:off x="1700035" y="2256423"/>
              <a:ext cx="96705" cy="97004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14"/>
          <p:cNvGrpSpPr/>
          <p:nvPr/>
        </p:nvGrpSpPr>
        <p:grpSpPr>
          <a:xfrm>
            <a:off x="25" y="0"/>
            <a:ext cx="9144000" cy="5143500"/>
            <a:chOff x="0" y="0"/>
            <a:chExt cx="9144000" cy="5143500"/>
          </a:xfrm>
        </p:grpSpPr>
        <p:sp>
          <p:nvSpPr>
            <p:cNvPr id="87" name="Google Shape;87;p14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5"/>
          <p:cNvSpPr txBox="1"/>
          <p:nvPr>
            <p:ph hasCustomPrompt="1"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93" name="Google Shape;93;p15"/>
          <p:cNvGrpSpPr/>
          <p:nvPr/>
        </p:nvGrpSpPr>
        <p:grpSpPr>
          <a:xfrm>
            <a:off x="566797" y="448050"/>
            <a:ext cx="4247400" cy="4247400"/>
            <a:chOff x="566797" y="448050"/>
            <a:chExt cx="4247400" cy="4247400"/>
          </a:xfrm>
        </p:grpSpPr>
        <p:sp>
          <p:nvSpPr>
            <p:cNvPr id="94" name="Google Shape;94;p15"/>
            <p:cNvSpPr/>
            <p:nvPr/>
          </p:nvSpPr>
          <p:spPr>
            <a:xfrm>
              <a:off x="566797" y="448050"/>
              <a:ext cx="4247400" cy="42474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794499" y="675750"/>
              <a:ext cx="3792000" cy="37920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794500" y="2906471"/>
              <a:ext cx="76200" cy="75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4396396" y="327494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4255325" y="1505039"/>
              <a:ext cx="76200" cy="75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3383375" y="518914"/>
              <a:ext cx="141900" cy="141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1130225" y="4020148"/>
              <a:ext cx="141900" cy="141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/>
          <p:nvPr>
            <p:ph idx="3" type="pic"/>
          </p:nvPr>
        </p:nvSpPr>
        <p:spPr>
          <a:xfrm>
            <a:off x="965050" y="846300"/>
            <a:ext cx="3450900" cy="3450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_COLUMN_TEXT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6"/>
          <p:cNvGrpSpPr/>
          <p:nvPr/>
        </p:nvGrpSpPr>
        <p:grpSpPr>
          <a:xfrm>
            <a:off x="-895160" y="1172024"/>
            <a:ext cx="5143384" cy="5143384"/>
            <a:chOff x="-638000" y="1090200"/>
            <a:chExt cx="4814100" cy="4814100"/>
          </a:xfrm>
        </p:grpSpPr>
        <p:sp>
          <p:nvSpPr>
            <p:cNvPr id="105" name="Google Shape;105;p16"/>
            <p:cNvSpPr/>
            <p:nvPr/>
          </p:nvSpPr>
          <p:spPr>
            <a:xfrm>
              <a:off x="-638000" y="1090200"/>
              <a:ext cx="4814100" cy="481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950939" y="1182389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525393" y="1327492"/>
              <a:ext cx="141900" cy="141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16"/>
          <p:cNvSpPr/>
          <p:nvPr>
            <p:ph idx="2" type="pic"/>
          </p:nvPr>
        </p:nvSpPr>
        <p:spPr>
          <a:xfrm>
            <a:off x="-664877" y="1402349"/>
            <a:ext cx="4683000" cy="4683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09" name="Google Shape;109;p16"/>
          <p:cNvGrpSpPr/>
          <p:nvPr/>
        </p:nvGrpSpPr>
        <p:grpSpPr>
          <a:xfrm>
            <a:off x="-20574" y="0"/>
            <a:ext cx="9144000" cy="5143500"/>
            <a:chOff x="0" y="0"/>
            <a:chExt cx="9144000" cy="5143500"/>
          </a:xfrm>
        </p:grpSpPr>
        <p:sp>
          <p:nvSpPr>
            <p:cNvPr id="110" name="Google Shape;110;p16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4647600" y="1737450"/>
            <a:ext cx="3566400" cy="22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7"/>
          <p:cNvGrpSpPr/>
          <p:nvPr/>
        </p:nvGrpSpPr>
        <p:grpSpPr>
          <a:xfrm>
            <a:off x="7196393" y="3841581"/>
            <a:ext cx="4104201" cy="3771263"/>
            <a:chOff x="-2105956" y="-925450"/>
            <a:chExt cx="5228281" cy="4804157"/>
          </a:xfrm>
        </p:grpSpPr>
        <p:sp>
          <p:nvSpPr>
            <p:cNvPr id="116" name="Google Shape;116;p17"/>
            <p:cNvSpPr/>
            <p:nvPr/>
          </p:nvSpPr>
          <p:spPr>
            <a:xfrm>
              <a:off x="-1150875" y="-925450"/>
              <a:ext cx="4273200" cy="427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-2105956" y="-355493"/>
              <a:ext cx="4234200" cy="4234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-2047906" y="3484653"/>
            <a:ext cx="4176625" cy="4180591"/>
            <a:chOff x="-2101146" y="-1997269"/>
            <a:chExt cx="5320541" cy="5325594"/>
          </a:xfrm>
        </p:grpSpPr>
        <p:sp>
          <p:nvSpPr>
            <p:cNvPr id="119" name="Google Shape;119;p17"/>
            <p:cNvSpPr/>
            <p:nvPr/>
          </p:nvSpPr>
          <p:spPr>
            <a:xfrm>
              <a:off x="-1053805" y="-1119590"/>
              <a:ext cx="4273200" cy="427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-1686625" y="-905875"/>
              <a:ext cx="4234200" cy="4234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-2101146" y="-1997269"/>
              <a:ext cx="3856800" cy="3856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1290750" y="2672122"/>
            <a:ext cx="29076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2" type="subTitle"/>
          </p:nvPr>
        </p:nvSpPr>
        <p:spPr>
          <a:xfrm>
            <a:off x="4945625" y="2672122"/>
            <a:ext cx="29076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24" name="Google Shape;124;p17"/>
          <p:cNvSpPr txBox="1"/>
          <p:nvPr>
            <p:ph idx="3" type="subTitle"/>
          </p:nvPr>
        </p:nvSpPr>
        <p:spPr>
          <a:xfrm>
            <a:off x="1290750" y="3037934"/>
            <a:ext cx="29076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4" type="subTitle"/>
          </p:nvPr>
        </p:nvSpPr>
        <p:spPr>
          <a:xfrm>
            <a:off x="4945625" y="3037934"/>
            <a:ext cx="29076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7" name="Google Shape;127;p17"/>
          <p:cNvGrpSpPr/>
          <p:nvPr/>
        </p:nvGrpSpPr>
        <p:grpSpPr>
          <a:xfrm>
            <a:off x="1076711" y="4239163"/>
            <a:ext cx="613825" cy="471859"/>
            <a:chOff x="1229111" y="4086763"/>
            <a:chExt cx="613825" cy="471859"/>
          </a:xfrm>
        </p:grpSpPr>
        <p:sp>
          <p:nvSpPr>
            <p:cNvPr id="128" name="Google Shape;128;p17"/>
            <p:cNvSpPr/>
            <p:nvPr/>
          </p:nvSpPr>
          <p:spPr>
            <a:xfrm rot="9764841">
              <a:off x="1248348" y="4105826"/>
              <a:ext cx="151727" cy="15267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 rot="9771484">
              <a:off x="1545636" y="4300876"/>
              <a:ext cx="96695" cy="97071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1766737" y="4482722"/>
              <a:ext cx="76200" cy="75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17"/>
          <p:cNvSpPr/>
          <p:nvPr/>
        </p:nvSpPr>
        <p:spPr>
          <a:xfrm rot="9771484">
            <a:off x="8632236" y="4082563"/>
            <a:ext cx="96695" cy="97071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3" name="Google Shape;133;p17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874600" y="3633325"/>
            <a:ext cx="23364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403800" y="1963752"/>
            <a:ext cx="23364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5925166" y="3261741"/>
            <a:ext cx="23364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4" type="subTitle"/>
          </p:nvPr>
        </p:nvSpPr>
        <p:spPr>
          <a:xfrm>
            <a:off x="874600" y="3337875"/>
            <a:ext cx="233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5" type="subTitle"/>
          </p:nvPr>
        </p:nvSpPr>
        <p:spPr>
          <a:xfrm>
            <a:off x="5925166" y="2966291"/>
            <a:ext cx="233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6" type="subTitle"/>
          </p:nvPr>
        </p:nvSpPr>
        <p:spPr>
          <a:xfrm>
            <a:off x="3403800" y="1669225"/>
            <a:ext cx="233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 txBox="1"/>
          <p:nvPr>
            <p:ph idx="1" type="subTitle"/>
          </p:nvPr>
        </p:nvSpPr>
        <p:spPr>
          <a:xfrm>
            <a:off x="865744" y="2116550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2" type="subTitle"/>
          </p:nvPr>
        </p:nvSpPr>
        <p:spPr>
          <a:xfrm>
            <a:off x="3429044" y="2116550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3" type="subTitle"/>
          </p:nvPr>
        </p:nvSpPr>
        <p:spPr>
          <a:xfrm>
            <a:off x="865744" y="3875917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4" type="subTitle"/>
          </p:nvPr>
        </p:nvSpPr>
        <p:spPr>
          <a:xfrm>
            <a:off x="3429044" y="3875917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5" type="subTitle"/>
          </p:nvPr>
        </p:nvSpPr>
        <p:spPr>
          <a:xfrm>
            <a:off x="5992253" y="2116550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6" type="subTitle"/>
          </p:nvPr>
        </p:nvSpPr>
        <p:spPr>
          <a:xfrm>
            <a:off x="5992253" y="3875917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7" type="subTitle"/>
          </p:nvPr>
        </p:nvSpPr>
        <p:spPr>
          <a:xfrm>
            <a:off x="856000" y="1880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4" name="Google Shape;154;p19"/>
          <p:cNvSpPr txBox="1"/>
          <p:nvPr>
            <p:ph idx="8" type="subTitle"/>
          </p:nvPr>
        </p:nvSpPr>
        <p:spPr>
          <a:xfrm>
            <a:off x="3419300" y="1880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9" type="subTitle"/>
          </p:nvPr>
        </p:nvSpPr>
        <p:spPr>
          <a:xfrm>
            <a:off x="5982503" y="1880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13" type="subTitle"/>
          </p:nvPr>
        </p:nvSpPr>
        <p:spPr>
          <a:xfrm>
            <a:off x="855994" y="3636517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14" type="subTitle"/>
          </p:nvPr>
        </p:nvSpPr>
        <p:spPr>
          <a:xfrm>
            <a:off x="3419294" y="3636517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15" type="subTitle"/>
          </p:nvPr>
        </p:nvSpPr>
        <p:spPr>
          <a:xfrm>
            <a:off x="5982503" y="3636517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740550" y="4071623"/>
            <a:ext cx="76629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1"/>
          <p:cNvSpPr txBox="1"/>
          <p:nvPr>
            <p:ph idx="1" type="subTitle"/>
          </p:nvPr>
        </p:nvSpPr>
        <p:spPr>
          <a:xfrm>
            <a:off x="5166650" y="2727750"/>
            <a:ext cx="2881500" cy="8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1"/>
          <p:cNvSpPr txBox="1"/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1"/>
          <p:cNvSpPr txBox="1"/>
          <p:nvPr>
            <p:ph idx="2" type="subTitle"/>
          </p:nvPr>
        </p:nvSpPr>
        <p:spPr>
          <a:xfrm>
            <a:off x="5166650" y="2307700"/>
            <a:ext cx="28815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TITLE_ONLY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7994825" y="-1264325"/>
            <a:ext cx="2261700" cy="2281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-2241445" y="3546472"/>
            <a:ext cx="3323700" cy="3323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-1037844" y="4373553"/>
            <a:ext cx="3027600" cy="3027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8570900" y="-442000"/>
            <a:ext cx="2558700" cy="2558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22"/>
          <p:cNvSpPr/>
          <p:nvPr/>
        </p:nvSpPr>
        <p:spPr>
          <a:xfrm rot="1177073">
            <a:off x="8581921" y="1170440"/>
            <a:ext cx="96502" cy="96784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/>
          <p:nvPr/>
        </p:nvSpPr>
        <p:spPr>
          <a:xfrm rot="1177073">
            <a:off x="473860" y="3913640"/>
            <a:ext cx="96502" cy="96784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" name="Google Shape;174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75" name="Google Shape;175;p22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2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/>
        </p:nvSpPr>
        <p:spPr>
          <a:xfrm>
            <a:off x="7171850" y="4653875"/>
            <a:ext cx="2261700" cy="2281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-2663220" y="3155572"/>
            <a:ext cx="3323700" cy="3323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-1346444" y="4229553"/>
            <a:ext cx="3027600" cy="3027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/>
          <p:nvPr/>
        </p:nvSpPr>
        <p:spPr>
          <a:xfrm>
            <a:off x="8252025" y="3755125"/>
            <a:ext cx="2558700" cy="2558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23"/>
          <p:cNvSpPr/>
          <p:nvPr/>
        </p:nvSpPr>
        <p:spPr>
          <a:xfrm rot="7655776">
            <a:off x="1106298" y="4537862"/>
            <a:ext cx="151452" cy="152294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3"/>
          <p:cNvSpPr/>
          <p:nvPr/>
        </p:nvSpPr>
        <p:spPr>
          <a:xfrm rot="4960567">
            <a:off x="7756896" y="4726117"/>
            <a:ext cx="96487" cy="9678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/>
          <p:nvPr/>
        </p:nvSpPr>
        <p:spPr>
          <a:xfrm rot="-10162821">
            <a:off x="8340906" y="4327139"/>
            <a:ext cx="151393" cy="152333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/>
          <p:nvPr/>
        </p:nvSpPr>
        <p:spPr>
          <a:xfrm rot="1177073">
            <a:off x="820199" y="4348379"/>
            <a:ext cx="96502" cy="96784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88" name="Google Shape;188;p23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4"/>
          <p:cNvSpPr txBox="1"/>
          <p:nvPr>
            <p:ph hasCustomPrompt="1" type="title"/>
          </p:nvPr>
        </p:nvSpPr>
        <p:spPr>
          <a:xfrm>
            <a:off x="1284000" y="1780150"/>
            <a:ext cx="65760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3" name="Google Shape;193;p24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 txBox="1"/>
          <p:nvPr>
            <p:ph hasCustomPrompt="1" type="title"/>
          </p:nvPr>
        </p:nvSpPr>
        <p:spPr>
          <a:xfrm>
            <a:off x="1848000" y="1120476"/>
            <a:ext cx="54480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7" name="Google Shape;197;p25"/>
          <p:cNvSpPr txBox="1"/>
          <p:nvPr>
            <p:ph idx="1" type="subTitle"/>
          </p:nvPr>
        </p:nvSpPr>
        <p:spPr>
          <a:xfrm>
            <a:off x="1848000" y="1937811"/>
            <a:ext cx="5448000" cy="309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hasCustomPrompt="1" idx="2" type="title"/>
          </p:nvPr>
        </p:nvSpPr>
        <p:spPr>
          <a:xfrm>
            <a:off x="1848000" y="2947921"/>
            <a:ext cx="54480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9" name="Google Shape;199;p25"/>
          <p:cNvSpPr txBox="1"/>
          <p:nvPr>
            <p:ph idx="3" type="subTitle"/>
          </p:nvPr>
        </p:nvSpPr>
        <p:spPr>
          <a:xfrm>
            <a:off x="1848000" y="3756975"/>
            <a:ext cx="5448000" cy="309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3194850" y="3733475"/>
            <a:ext cx="48909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CREDITS: This presentation template was created by </a:t>
            </a:r>
            <a:r>
              <a:rPr lang="en" u="sng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and includes icons by </a:t>
            </a:r>
            <a:r>
              <a:rPr lang="en" u="sng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and infographics &amp; images by </a:t>
            </a:r>
            <a:r>
              <a:rPr lang="en" u="sng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u="sng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 </a:t>
            </a:r>
            <a:endParaRPr u="sng">
              <a:solidFill>
                <a:schemeClr val="dk2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03" name="Google Shape;203;p26"/>
          <p:cNvSpPr txBox="1"/>
          <p:nvPr>
            <p:ph type="title"/>
          </p:nvPr>
        </p:nvSpPr>
        <p:spPr>
          <a:xfrm>
            <a:off x="2347950" y="1198126"/>
            <a:ext cx="44481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26"/>
          <p:cNvSpPr txBox="1"/>
          <p:nvPr>
            <p:ph idx="1" type="subTitle"/>
          </p:nvPr>
        </p:nvSpPr>
        <p:spPr>
          <a:xfrm>
            <a:off x="2347950" y="2051775"/>
            <a:ext cx="4448100" cy="9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7"/>
          <p:cNvSpPr txBox="1"/>
          <p:nvPr>
            <p:ph idx="1" type="subTitle"/>
          </p:nvPr>
        </p:nvSpPr>
        <p:spPr>
          <a:xfrm>
            <a:off x="721200" y="1069900"/>
            <a:ext cx="7704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" name="Google Shape;212;p28"/>
          <p:cNvSpPr txBox="1"/>
          <p:nvPr>
            <p:ph idx="1" type="body"/>
          </p:nvPr>
        </p:nvSpPr>
        <p:spPr>
          <a:xfrm>
            <a:off x="720000" y="1098475"/>
            <a:ext cx="7704000" cy="34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/>
          <p:nvPr/>
        </p:nvSpPr>
        <p:spPr>
          <a:xfrm>
            <a:off x="2386800" y="386550"/>
            <a:ext cx="4370400" cy="4370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"/>
          <p:cNvSpPr/>
          <p:nvPr/>
        </p:nvSpPr>
        <p:spPr>
          <a:xfrm rot="-2700000">
            <a:off x="2842488" y="842238"/>
            <a:ext cx="3459025" cy="3459025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0"/>
          <p:cNvSpPr/>
          <p:nvPr/>
        </p:nvSpPr>
        <p:spPr>
          <a:xfrm rot="-2700000">
            <a:off x="3023860" y="1065685"/>
            <a:ext cx="3096279" cy="3096279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30"/>
          <p:cNvCxnSpPr>
            <a:stCxn id="219" idx="0"/>
            <a:endCxn id="219" idx="4"/>
          </p:cNvCxnSpPr>
          <p:nvPr/>
        </p:nvCxnSpPr>
        <p:spPr>
          <a:xfrm>
            <a:off x="4572000" y="386550"/>
            <a:ext cx="0" cy="4370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3" name="Google Shape;223;p30"/>
          <p:cNvSpPr/>
          <p:nvPr/>
        </p:nvSpPr>
        <p:spPr>
          <a:xfrm rot="649">
            <a:off x="601950" y="1172226"/>
            <a:ext cx="7940100" cy="27990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 txBox="1"/>
          <p:nvPr>
            <p:ph idx="1" type="subTitle"/>
          </p:nvPr>
        </p:nvSpPr>
        <p:spPr>
          <a:xfrm>
            <a:off x="1717925" y="3133600"/>
            <a:ext cx="57294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Lecture: Astropy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[Class 17] November 3rd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, 2025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25" name="Google Shape;225;p30"/>
          <p:cNvSpPr txBox="1"/>
          <p:nvPr>
            <p:ph type="ctrTitle"/>
          </p:nvPr>
        </p:nvSpPr>
        <p:spPr>
          <a:xfrm>
            <a:off x="1084800" y="1827013"/>
            <a:ext cx="6974400" cy="13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Syncopate"/>
                <a:ea typeface="Syncopate"/>
                <a:cs typeface="Syncopate"/>
                <a:sym typeface="Syncopate"/>
              </a:rPr>
              <a:t>Welcome to the</a:t>
            </a:r>
            <a:endParaRPr b="1" sz="3800">
              <a:latin typeface="Syncopate"/>
              <a:ea typeface="Syncopate"/>
              <a:cs typeface="Syncopate"/>
              <a:sym typeface="Syncopat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Syncopate"/>
                <a:ea typeface="Syncopate"/>
                <a:cs typeface="Syncopate"/>
                <a:sym typeface="Syncopate"/>
              </a:rPr>
              <a:t>Python DeCal!</a:t>
            </a:r>
            <a:endParaRPr b="1" sz="3800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4387914" y="4235401"/>
            <a:ext cx="363300" cy="363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0"/>
          <p:cNvSpPr/>
          <p:nvPr/>
        </p:nvSpPr>
        <p:spPr>
          <a:xfrm>
            <a:off x="2920213" y="1048646"/>
            <a:ext cx="76200" cy="75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"/>
          <p:cNvSpPr/>
          <p:nvPr/>
        </p:nvSpPr>
        <p:spPr>
          <a:xfrm>
            <a:off x="3516263" y="551723"/>
            <a:ext cx="141900" cy="14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0"/>
          <p:cNvSpPr/>
          <p:nvPr/>
        </p:nvSpPr>
        <p:spPr>
          <a:xfrm>
            <a:off x="5444591" y="4509010"/>
            <a:ext cx="76200" cy="75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3206395" y="799771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0"/>
          <p:cNvSpPr/>
          <p:nvPr/>
        </p:nvSpPr>
        <p:spPr>
          <a:xfrm rot="10800000">
            <a:off x="4387914" y="561081"/>
            <a:ext cx="363300" cy="363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/>
          <p:cNvSpPr/>
          <p:nvPr/>
        </p:nvSpPr>
        <p:spPr>
          <a:xfrm flipH="1" rot="10800000">
            <a:off x="1230441" y="1270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"/>
          <p:cNvSpPr/>
          <p:nvPr/>
        </p:nvSpPr>
        <p:spPr>
          <a:xfrm flipH="1" rot="10800000">
            <a:off x="6761391" y="3736498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0"/>
          <p:cNvSpPr/>
          <p:nvPr/>
        </p:nvSpPr>
        <p:spPr>
          <a:xfrm>
            <a:off x="2205049" y="3761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7798949" y="335520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0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7579691" y="3536950"/>
            <a:ext cx="1353000" cy="1357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7" name="Google Shape;237;p30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264478" y="248075"/>
            <a:ext cx="1353000" cy="1357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8" name="Google Shape;238;p30" title="One-mod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6525" y="197312"/>
            <a:ext cx="1459326" cy="145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0" title="One-mod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463" y="3486187"/>
            <a:ext cx="1459326" cy="145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Lectures will be Recorded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245" name="Google Shape;245;p31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1"/>
          <p:cNvSpPr/>
          <p:nvPr/>
        </p:nvSpPr>
        <p:spPr>
          <a:xfrm flipH="1" rot="10800000">
            <a:off x="8424000" y="3256833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1"/>
          <p:cNvSpPr/>
          <p:nvPr/>
        </p:nvSpPr>
        <p:spPr>
          <a:xfrm>
            <a:off x="7622324" y="35331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1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" name="Google Shape;250;p31"/>
          <p:cNvGrpSpPr/>
          <p:nvPr/>
        </p:nvGrpSpPr>
        <p:grpSpPr>
          <a:xfrm>
            <a:off x="7679230" y="3672624"/>
            <a:ext cx="1790195" cy="1790131"/>
            <a:chOff x="4536275" y="2503800"/>
            <a:chExt cx="690875" cy="690850"/>
          </a:xfrm>
        </p:grpSpPr>
        <p:sp>
          <p:nvSpPr>
            <p:cNvPr id="251" name="Google Shape;251;p31"/>
            <p:cNvSpPr/>
            <p:nvPr/>
          </p:nvSpPr>
          <p:spPr>
            <a:xfrm>
              <a:off x="4543825" y="2535925"/>
              <a:ext cx="513675" cy="255650"/>
            </a:xfrm>
            <a:custGeom>
              <a:rect b="b" l="l" r="r" t="t"/>
              <a:pathLst>
                <a:path extrusionOk="0" fill="none" h="10226" w="20547">
                  <a:moveTo>
                    <a:pt x="20546" y="643"/>
                  </a:moveTo>
                  <a:cubicBezTo>
                    <a:pt x="18127" y="3403"/>
                    <a:pt x="14555" y="4953"/>
                    <a:pt x="11096" y="6295"/>
                  </a:cubicBezTo>
                  <a:cubicBezTo>
                    <a:pt x="8109" y="7447"/>
                    <a:pt x="3422" y="10226"/>
                    <a:pt x="1" y="9716"/>
                  </a:cubicBezTo>
                  <a:cubicBezTo>
                    <a:pt x="209" y="8657"/>
                    <a:pt x="549" y="7636"/>
                    <a:pt x="1003" y="6673"/>
                  </a:cubicBezTo>
                  <a:cubicBezTo>
                    <a:pt x="2836" y="5898"/>
                    <a:pt x="4953" y="5236"/>
                    <a:pt x="5501" y="5028"/>
                  </a:cubicBezTo>
                  <a:cubicBezTo>
                    <a:pt x="9432" y="3573"/>
                    <a:pt x="13345" y="2099"/>
                    <a:pt x="17277" y="624"/>
                  </a:cubicBezTo>
                  <a:cubicBezTo>
                    <a:pt x="17938" y="379"/>
                    <a:pt x="18637" y="133"/>
                    <a:pt x="19337" y="1"/>
                  </a:cubicBezTo>
                  <a:cubicBezTo>
                    <a:pt x="19753" y="190"/>
                    <a:pt x="20150" y="397"/>
                    <a:pt x="20546" y="64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4568875" y="2503800"/>
              <a:ext cx="458375" cy="198950"/>
            </a:xfrm>
            <a:custGeom>
              <a:rect b="b" l="l" r="r" t="t"/>
              <a:pathLst>
                <a:path extrusionOk="0" fill="none" h="7958" w="18335">
                  <a:moveTo>
                    <a:pt x="4499" y="6313"/>
                  </a:moveTo>
                  <a:cubicBezTo>
                    <a:pt x="3970" y="6521"/>
                    <a:pt x="1834" y="7183"/>
                    <a:pt x="1" y="7958"/>
                  </a:cubicBezTo>
                  <a:cubicBezTo>
                    <a:pt x="2212" y="3251"/>
                    <a:pt x="6975" y="0"/>
                    <a:pt x="12513" y="0"/>
                  </a:cubicBezTo>
                  <a:cubicBezTo>
                    <a:pt x="14592" y="0"/>
                    <a:pt x="16577" y="454"/>
                    <a:pt x="18335" y="1286"/>
                  </a:cubicBezTo>
                  <a:cubicBezTo>
                    <a:pt x="17635" y="1399"/>
                    <a:pt x="16936" y="1664"/>
                    <a:pt x="16275" y="1909"/>
                  </a:cubicBezTo>
                  <a:cubicBezTo>
                    <a:pt x="12343" y="3384"/>
                    <a:pt x="8430" y="4839"/>
                    <a:pt x="4499" y="631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542875" y="2660200"/>
              <a:ext cx="671975" cy="350150"/>
            </a:xfrm>
            <a:custGeom>
              <a:rect b="b" l="l" r="r" t="t"/>
              <a:pathLst>
                <a:path extrusionOk="0" fill="none" h="14006" w="26879">
                  <a:moveTo>
                    <a:pt x="26879" y="3837"/>
                  </a:moveTo>
                  <a:cubicBezTo>
                    <a:pt x="20962" y="7032"/>
                    <a:pt x="14045" y="8260"/>
                    <a:pt x="7788" y="10868"/>
                  </a:cubicBezTo>
                  <a:cubicBezTo>
                    <a:pt x="5558" y="11776"/>
                    <a:pt x="3479" y="12947"/>
                    <a:pt x="1343" y="14006"/>
                  </a:cubicBezTo>
                  <a:cubicBezTo>
                    <a:pt x="719" y="12853"/>
                    <a:pt x="266" y="11587"/>
                    <a:pt x="1" y="10245"/>
                  </a:cubicBezTo>
                  <a:cubicBezTo>
                    <a:pt x="7996" y="6427"/>
                    <a:pt x="16218" y="3043"/>
                    <a:pt x="24592" y="171"/>
                  </a:cubicBezTo>
                  <a:cubicBezTo>
                    <a:pt x="24762" y="114"/>
                    <a:pt x="24951" y="57"/>
                    <a:pt x="25121" y="0"/>
                  </a:cubicBezTo>
                  <a:cubicBezTo>
                    <a:pt x="25896" y="1153"/>
                    <a:pt x="26482" y="2458"/>
                    <a:pt x="26860" y="3837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4536275" y="2551525"/>
              <a:ext cx="634625" cy="364800"/>
            </a:xfrm>
            <a:custGeom>
              <a:rect b="b" l="l" r="r" t="t"/>
              <a:pathLst>
                <a:path extrusionOk="0" h="14592" w="25385">
                  <a:moveTo>
                    <a:pt x="20848" y="0"/>
                  </a:moveTo>
                  <a:cubicBezTo>
                    <a:pt x="18429" y="2779"/>
                    <a:pt x="14857" y="4310"/>
                    <a:pt x="11398" y="5652"/>
                  </a:cubicBezTo>
                  <a:cubicBezTo>
                    <a:pt x="8665" y="6707"/>
                    <a:pt x="4508" y="9139"/>
                    <a:pt x="1200" y="9139"/>
                  </a:cubicBezTo>
                  <a:cubicBezTo>
                    <a:pt x="893" y="9139"/>
                    <a:pt x="593" y="9118"/>
                    <a:pt x="303" y="9073"/>
                  </a:cubicBezTo>
                  <a:cubicBezTo>
                    <a:pt x="95" y="9999"/>
                    <a:pt x="0" y="10944"/>
                    <a:pt x="0" y="11908"/>
                  </a:cubicBezTo>
                  <a:cubicBezTo>
                    <a:pt x="0" y="12834"/>
                    <a:pt x="95" y="13722"/>
                    <a:pt x="265" y="14592"/>
                  </a:cubicBezTo>
                  <a:cubicBezTo>
                    <a:pt x="8260" y="10774"/>
                    <a:pt x="16482" y="7390"/>
                    <a:pt x="24856" y="4518"/>
                  </a:cubicBezTo>
                  <a:lnTo>
                    <a:pt x="24874" y="4518"/>
                  </a:lnTo>
                  <a:cubicBezTo>
                    <a:pt x="25045" y="4461"/>
                    <a:pt x="25215" y="4385"/>
                    <a:pt x="25385" y="4329"/>
                  </a:cubicBezTo>
                  <a:cubicBezTo>
                    <a:pt x="24232" y="2571"/>
                    <a:pt x="22682" y="1078"/>
                    <a:pt x="2084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4691725" y="2932375"/>
              <a:ext cx="525500" cy="227775"/>
            </a:xfrm>
            <a:custGeom>
              <a:rect b="b" l="l" r="r" t="t"/>
              <a:pathLst>
                <a:path extrusionOk="0" fill="none" h="9111" w="21020">
                  <a:moveTo>
                    <a:pt x="21019" y="0"/>
                  </a:moveTo>
                  <a:cubicBezTo>
                    <a:pt x="20887" y="548"/>
                    <a:pt x="20717" y="1078"/>
                    <a:pt x="20528" y="1588"/>
                  </a:cubicBezTo>
                  <a:lnTo>
                    <a:pt x="20528" y="1588"/>
                  </a:lnTo>
                  <a:cubicBezTo>
                    <a:pt x="20055" y="1909"/>
                    <a:pt x="19620" y="2212"/>
                    <a:pt x="19261" y="2401"/>
                  </a:cubicBezTo>
                  <a:cubicBezTo>
                    <a:pt x="17333" y="3440"/>
                    <a:pt x="15368" y="4385"/>
                    <a:pt x="13364" y="5236"/>
                  </a:cubicBezTo>
                  <a:cubicBezTo>
                    <a:pt x="9811" y="6767"/>
                    <a:pt x="6106" y="7995"/>
                    <a:pt x="2345" y="8940"/>
                  </a:cubicBezTo>
                  <a:cubicBezTo>
                    <a:pt x="2193" y="8978"/>
                    <a:pt x="1910" y="9054"/>
                    <a:pt x="1589" y="9110"/>
                  </a:cubicBezTo>
                  <a:cubicBezTo>
                    <a:pt x="1040" y="8846"/>
                    <a:pt x="511" y="8543"/>
                    <a:pt x="1" y="8222"/>
                  </a:cubicBezTo>
                  <a:cubicBezTo>
                    <a:pt x="1078" y="7617"/>
                    <a:pt x="3913" y="7353"/>
                    <a:pt x="4915" y="6975"/>
                  </a:cubicBezTo>
                  <a:cubicBezTo>
                    <a:pt x="10378" y="4952"/>
                    <a:pt x="15424" y="1682"/>
                    <a:pt x="21019" y="0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4731425" y="2972050"/>
              <a:ext cx="473500" cy="222600"/>
            </a:xfrm>
            <a:custGeom>
              <a:rect b="b" l="l" r="r" t="t"/>
              <a:pathLst>
                <a:path extrusionOk="0" fill="none" h="8904" w="18940">
                  <a:moveTo>
                    <a:pt x="17673" y="814"/>
                  </a:moveTo>
                  <a:cubicBezTo>
                    <a:pt x="18032" y="625"/>
                    <a:pt x="18467" y="322"/>
                    <a:pt x="18940" y="1"/>
                  </a:cubicBezTo>
                  <a:cubicBezTo>
                    <a:pt x="16955" y="5199"/>
                    <a:pt x="11927" y="8903"/>
                    <a:pt x="6011" y="8903"/>
                  </a:cubicBezTo>
                  <a:cubicBezTo>
                    <a:pt x="3856" y="8903"/>
                    <a:pt x="1815" y="8412"/>
                    <a:pt x="1" y="7523"/>
                  </a:cubicBezTo>
                  <a:cubicBezTo>
                    <a:pt x="322" y="7467"/>
                    <a:pt x="605" y="7391"/>
                    <a:pt x="757" y="7353"/>
                  </a:cubicBezTo>
                  <a:cubicBezTo>
                    <a:pt x="4537" y="6408"/>
                    <a:pt x="8223" y="5180"/>
                    <a:pt x="11795" y="3649"/>
                  </a:cubicBezTo>
                  <a:cubicBezTo>
                    <a:pt x="13780" y="2798"/>
                    <a:pt x="15745" y="1853"/>
                    <a:pt x="17673" y="81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4576425" y="2756125"/>
              <a:ext cx="650725" cy="381825"/>
            </a:xfrm>
            <a:custGeom>
              <a:rect b="b" l="l" r="r" t="t"/>
              <a:pathLst>
                <a:path extrusionOk="0" fill="none" h="15273" w="26029">
                  <a:moveTo>
                    <a:pt x="26028" y="3724"/>
                  </a:moveTo>
                  <a:cubicBezTo>
                    <a:pt x="26028" y="4877"/>
                    <a:pt x="25896" y="5973"/>
                    <a:pt x="25631" y="7050"/>
                  </a:cubicBezTo>
                  <a:cubicBezTo>
                    <a:pt x="20036" y="8714"/>
                    <a:pt x="14990" y="12002"/>
                    <a:pt x="9527" y="14025"/>
                  </a:cubicBezTo>
                  <a:cubicBezTo>
                    <a:pt x="8525" y="14403"/>
                    <a:pt x="5690" y="14667"/>
                    <a:pt x="4613" y="15272"/>
                  </a:cubicBezTo>
                  <a:cubicBezTo>
                    <a:pt x="2685" y="13987"/>
                    <a:pt x="1078" y="12229"/>
                    <a:pt x="1" y="10169"/>
                  </a:cubicBezTo>
                  <a:cubicBezTo>
                    <a:pt x="2137" y="9092"/>
                    <a:pt x="4216" y="7939"/>
                    <a:pt x="6446" y="7012"/>
                  </a:cubicBezTo>
                  <a:cubicBezTo>
                    <a:pt x="12703" y="4423"/>
                    <a:pt x="19620" y="3195"/>
                    <a:pt x="25537" y="0"/>
                  </a:cubicBezTo>
                  <a:cubicBezTo>
                    <a:pt x="25858" y="1172"/>
                    <a:pt x="26028" y="2438"/>
                    <a:pt x="26028" y="372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" name="Google Shape;258;p31"/>
          <p:cNvSpPr txBox="1"/>
          <p:nvPr/>
        </p:nvSpPr>
        <p:spPr>
          <a:xfrm>
            <a:off x="5136850" y="1078625"/>
            <a:ext cx="3120900" cy="3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This class will be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recorded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and posted to our YouTube Channel!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Subscribe :)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59" name="Google Shape;259;p31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-1" y="43713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1" title="Screenshot 2025-08-07 at 2.13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484300"/>
            <a:ext cx="3952750" cy="28042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Overview for today!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267" name="Google Shape;267;p32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2"/>
          <p:cNvSpPr/>
          <p:nvPr/>
        </p:nvSpPr>
        <p:spPr>
          <a:xfrm flipH="1" rot="10800000">
            <a:off x="8424000" y="3256833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2"/>
          <p:cNvSpPr/>
          <p:nvPr/>
        </p:nvSpPr>
        <p:spPr>
          <a:xfrm>
            <a:off x="7622324" y="35331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2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32"/>
          <p:cNvGrpSpPr/>
          <p:nvPr/>
        </p:nvGrpSpPr>
        <p:grpSpPr>
          <a:xfrm>
            <a:off x="7679230" y="3672624"/>
            <a:ext cx="1790195" cy="1790131"/>
            <a:chOff x="4536275" y="2503800"/>
            <a:chExt cx="690875" cy="690850"/>
          </a:xfrm>
        </p:grpSpPr>
        <p:sp>
          <p:nvSpPr>
            <p:cNvPr id="273" name="Google Shape;273;p32"/>
            <p:cNvSpPr/>
            <p:nvPr/>
          </p:nvSpPr>
          <p:spPr>
            <a:xfrm>
              <a:off x="4543825" y="2535925"/>
              <a:ext cx="513675" cy="255650"/>
            </a:xfrm>
            <a:custGeom>
              <a:rect b="b" l="l" r="r" t="t"/>
              <a:pathLst>
                <a:path extrusionOk="0" fill="none" h="10226" w="20547">
                  <a:moveTo>
                    <a:pt x="20546" y="643"/>
                  </a:moveTo>
                  <a:cubicBezTo>
                    <a:pt x="18127" y="3403"/>
                    <a:pt x="14555" y="4953"/>
                    <a:pt x="11096" y="6295"/>
                  </a:cubicBezTo>
                  <a:cubicBezTo>
                    <a:pt x="8109" y="7447"/>
                    <a:pt x="3422" y="10226"/>
                    <a:pt x="1" y="9716"/>
                  </a:cubicBezTo>
                  <a:cubicBezTo>
                    <a:pt x="209" y="8657"/>
                    <a:pt x="549" y="7636"/>
                    <a:pt x="1003" y="6673"/>
                  </a:cubicBezTo>
                  <a:cubicBezTo>
                    <a:pt x="2836" y="5898"/>
                    <a:pt x="4953" y="5236"/>
                    <a:pt x="5501" y="5028"/>
                  </a:cubicBezTo>
                  <a:cubicBezTo>
                    <a:pt x="9432" y="3573"/>
                    <a:pt x="13345" y="2099"/>
                    <a:pt x="17277" y="624"/>
                  </a:cubicBezTo>
                  <a:cubicBezTo>
                    <a:pt x="17938" y="379"/>
                    <a:pt x="18637" y="133"/>
                    <a:pt x="19337" y="1"/>
                  </a:cubicBezTo>
                  <a:cubicBezTo>
                    <a:pt x="19753" y="190"/>
                    <a:pt x="20150" y="397"/>
                    <a:pt x="20546" y="64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4568875" y="2503800"/>
              <a:ext cx="458375" cy="198950"/>
            </a:xfrm>
            <a:custGeom>
              <a:rect b="b" l="l" r="r" t="t"/>
              <a:pathLst>
                <a:path extrusionOk="0" fill="none" h="7958" w="18335">
                  <a:moveTo>
                    <a:pt x="4499" y="6313"/>
                  </a:moveTo>
                  <a:cubicBezTo>
                    <a:pt x="3970" y="6521"/>
                    <a:pt x="1834" y="7183"/>
                    <a:pt x="1" y="7958"/>
                  </a:cubicBezTo>
                  <a:cubicBezTo>
                    <a:pt x="2212" y="3251"/>
                    <a:pt x="6975" y="0"/>
                    <a:pt x="12513" y="0"/>
                  </a:cubicBezTo>
                  <a:cubicBezTo>
                    <a:pt x="14592" y="0"/>
                    <a:pt x="16577" y="454"/>
                    <a:pt x="18335" y="1286"/>
                  </a:cubicBezTo>
                  <a:cubicBezTo>
                    <a:pt x="17635" y="1399"/>
                    <a:pt x="16936" y="1664"/>
                    <a:pt x="16275" y="1909"/>
                  </a:cubicBezTo>
                  <a:cubicBezTo>
                    <a:pt x="12343" y="3384"/>
                    <a:pt x="8430" y="4839"/>
                    <a:pt x="4499" y="631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2"/>
            <p:cNvSpPr/>
            <p:nvPr/>
          </p:nvSpPr>
          <p:spPr>
            <a:xfrm>
              <a:off x="4542875" y="2660200"/>
              <a:ext cx="671975" cy="350150"/>
            </a:xfrm>
            <a:custGeom>
              <a:rect b="b" l="l" r="r" t="t"/>
              <a:pathLst>
                <a:path extrusionOk="0" fill="none" h="14006" w="26879">
                  <a:moveTo>
                    <a:pt x="26879" y="3837"/>
                  </a:moveTo>
                  <a:cubicBezTo>
                    <a:pt x="20962" y="7032"/>
                    <a:pt x="14045" y="8260"/>
                    <a:pt x="7788" y="10868"/>
                  </a:cubicBezTo>
                  <a:cubicBezTo>
                    <a:pt x="5558" y="11776"/>
                    <a:pt x="3479" y="12947"/>
                    <a:pt x="1343" y="14006"/>
                  </a:cubicBezTo>
                  <a:cubicBezTo>
                    <a:pt x="719" y="12853"/>
                    <a:pt x="266" y="11587"/>
                    <a:pt x="1" y="10245"/>
                  </a:cubicBezTo>
                  <a:cubicBezTo>
                    <a:pt x="7996" y="6427"/>
                    <a:pt x="16218" y="3043"/>
                    <a:pt x="24592" y="171"/>
                  </a:cubicBezTo>
                  <a:cubicBezTo>
                    <a:pt x="24762" y="114"/>
                    <a:pt x="24951" y="57"/>
                    <a:pt x="25121" y="0"/>
                  </a:cubicBezTo>
                  <a:cubicBezTo>
                    <a:pt x="25896" y="1153"/>
                    <a:pt x="26482" y="2458"/>
                    <a:pt x="26860" y="3837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2"/>
            <p:cNvSpPr/>
            <p:nvPr/>
          </p:nvSpPr>
          <p:spPr>
            <a:xfrm>
              <a:off x="4536275" y="2551525"/>
              <a:ext cx="634625" cy="364800"/>
            </a:xfrm>
            <a:custGeom>
              <a:rect b="b" l="l" r="r" t="t"/>
              <a:pathLst>
                <a:path extrusionOk="0" h="14592" w="25385">
                  <a:moveTo>
                    <a:pt x="20848" y="0"/>
                  </a:moveTo>
                  <a:cubicBezTo>
                    <a:pt x="18429" y="2779"/>
                    <a:pt x="14857" y="4310"/>
                    <a:pt x="11398" y="5652"/>
                  </a:cubicBezTo>
                  <a:cubicBezTo>
                    <a:pt x="8665" y="6707"/>
                    <a:pt x="4508" y="9139"/>
                    <a:pt x="1200" y="9139"/>
                  </a:cubicBezTo>
                  <a:cubicBezTo>
                    <a:pt x="893" y="9139"/>
                    <a:pt x="593" y="9118"/>
                    <a:pt x="303" y="9073"/>
                  </a:cubicBezTo>
                  <a:cubicBezTo>
                    <a:pt x="95" y="9999"/>
                    <a:pt x="0" y="10944"/>
                    <a:pt x="0" y="11908"/>
                  </a:cubicBezTo>
                  <a:cubicBezTo>
                    <a:pt x="0" y="12834"/>
                    <a:pt x="95" y="13722"/>
                    <a:pt x="265" y="14592"/>
                  </a:cubicBezTo>
                  <a:cubicBezTo>
                    <a:pt x="8260" y="10774"/>
                    <a:pt x="16482" y="7390"/>
                    <a:pt x="24856" y="4518"/>
                  </a:cubicBezTo>
                  <a:lnTo>
                    <a:pt x="24874" y="4518"/>
                  </a:lnTo>
                  <a:cubicBezTo>
                    <a:pt x="25045" y="4461"/>
                    <a:pt x="25215" y="4385"/>
                    <a:pt x="25385" y="4329"/>
                  </a:cubicBezTo>
                  <a:cubicBezTo>
                    <a:pt x="24232" y="2571"/>
                    <a:pt x="22682" y="1078"/>
                    <a:pt x="2084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2"/>
            <p:cNvSpPr/>
            <p:nvPr/>
          </p:nvSpPr>
          <p:spPr>
            <a:xfrm>
              <a:off x="4691725" y="2932375"/>
              <a:ext cx="525500" cy="227775"/>
            </a:xfrm>
            <a:custGeom>
              <a:rect b="b" l="l" r="r" t="t"/>
              <a:pathLst>
                <a:path extrusionOk="0" fill="none" h="9111" w="21020">
                  <a:moveTo>
                    <a:pt x="21019" y="0"/>
                  </a:moveTo>
                  <a:cubicBezTo>
                    <a:pt x="20887" y="548"/>
                    <a:pt x="20717" y="1078"/>
                    <a:pt x="20528" y="1588"/>
                  </a:cubicBezTo>
                  <a:lnTo>
                    <a:pt x="20528" y="1588"/>
                  </a:lnTo>
                  <a:cubicBezTo>
                    <a:pt x="20055" y="1909"/>
                    <a:pt x="19620" y="2212"/>
                    <a:pt x="19261" y="2401"/>
                  </a:cubicBezTo>
                  <a:cubicBezTo>
                    <a:pt x="17333" y="3440"/>
                    <a:pt x="15368" y="4385"/>
                    <a:pt x="13364" y="5236"/>
                  </a:cubicBezTo>
                  <a:cubicBezTo>
                    <a:pt x="9811" y="6767"/>
                    <a:pt x="6106" y="7995"/>
                    <a:pt x="2345" y="8940"/>
                  </a:cubicBezTo>
                  <a:cubicBezTo>
                    <a:pt x="2193" y="8978"/>
                    <a:pt x="1910" y="9054"/>
                    <a:pt x="1589" y="9110"/>
                  </a:cubicBezTo>
                  <a:cubicBezTo>
                    <a:pt x="1040" y="8846"/>
                    <a:pt x="511" y="8543"/>
                    <a:pt x="1" y="8222"/>
                  </a:cubicBezTo>
                  <a:cubicBezTo>
                    <a:pt x="1078" y="7617"/>
                    <a:pt x="3913" y="7353"/>
                    <a:pt x="4915" y="6975"/>
                  </a:cubicBezTo>
                  <a:cubicBezTo>
                    <a:pt x="10378" y="4952"/>
                    <a:pt x="15424" y="1682"/>
                    <a:pt x="21019" y="0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2"/>
            <p:cNvSpPr/>
            <p:nvPr/>
          </p:nvSpPr>
          <p:spPr>
            <a:xfrm>
              <a:off x="4731425" y="2972050"/>
              <a:ext cx="473500" cy="222600"/>
            </a:xfrm>
            <a:custGeom>
              <a:rect b="b" l="l" r="r" t="t"/>
              <a:pathLst>
                <a:path extrusionOk="0" fill="none" h="8904" w="18940">
                  <a:moveTo>
                    <a:pt x="17673" y="814"/>
                  </a:moveTo>
                  <a:cubicBezTo>
                    <a:pt x="18032" y="625"/>
                    <a:pt x="18467" y="322"/>
                    <a:pt x="18940" y="1"/>
                  </a:cubicBezTo>
                  <a:cubicBezTo>
                    <a:pt x="16955" y="5199"/>
                    <a:pt x="11927" y="8903"/>
                    <a:pt x="6011" y="8903"/>
                  </a:cubicBezTo>
                  <a:cubicBezTo>
                    <a:pt x="3856" y="8903"/>
                    <a:pt x="1815" y="8412"/>
                    <a:pt x="1" y="7523"/>
                  </a:cubicBezTo>
                  <a:cubicBezTo>
                    <a:pt x="322" y="7467"/>
                    <a:pt x="605" y="7391"/>
                    <a:pt x="757" y="7353"/>
                  </a:cubicBezTo>
                  <a:cubicBezTo>
                    <a:pt x="4537" y="6408"/>
                    <a:pt x="8223" y="5180"/>
                    <a:pt x="11795" y="3649"/>
                  </a:cubicBezTo>
                  <a:cubicBezTo>
                    <a:pt x="13780" y="2798"/>
                    <a:pt x="15745" y="1853"/>
                    <a:pt x="17673" y="81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2"/>
            <p:cNvSpPr/>
            <p:nvPr/>
          </p:nvSpPr>
          <p:spPr>
            <a:xfrm>
              <a:off x="4576425" y="2756125"/>
              <a:ext cx="650725" cy="381825"/>
            </a:xfrm>
            <a:custGeom>
              <a:rect b="b" l="l" r="r" t="t"/>
              <a:pathLst>
                <a:path extrusionOk="0" fill="none" h="15273" w="26029">
                  <a:moveTo>
                    <a:pt x="26028" y="3724"/>
                  </a:moveTo>
                  <a:cubicBezTo>
                    <a:pt x="26028" y="4877"/>
                    <a:pt x="25896" y="5973"/>
                    <a:pt x="25631" y="7050"/>
                  </a:cubicBezTo>
                  <a:cubicBezTo>
                    <a:pt x="20036" y="8714"/>
                    <a:pt x="14990" y="12002"/>
                    <a:pt x="9527" y="14025"/>
                  </a:cubicBezTo>
                  <a:cubicBezTo>
                    <a:pt x="8525" y="14403"/>
                    <a:pt x="5690" y="14667"/>
                    <a:pt x="4613" y="15272"/>
                  </a:cubicBezTo>
                  <a:cubicBezTo>
                    <a:pt x="2685" y="13987"/>
                    <a:pt x="1078" y="12229"/>
                    <a:pt x="1" y="10169"/>
                  </a:cubicBezTo>
                  <a:cubicBezTo>
                    <a:pt x="2137" y="9092"/>
                    <a:pt x="4216" y="7939"/>
                    <a:pt x="6446" y="7012"/>
                  </a:cubicBezTo>
                  <a:cubicBezTo>
                    <a:pt x="12703" y="4423"/>
                    <a:pt x="19620" y="3195"/>
                    <a:pt x="25537" y="0"/>
                  </a:cubicBezTo>
                  <a:cubicBezTo>
                    <a:pt x="25858" y="1172"/>
                    <a:pt x="26028" y="2438"/>
                    <a:pt x="26028" y="372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32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-1" y="43713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2"/>
          <p:cNvSpPr txBox="1"/>
          <p:nvPr/>
        </p:nvSpPr>
        <p:spPr>
          <a:xfrm>
            <a:off x="604975" y="1078625"/>
            <a:ext cx="72618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Announcements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Warm-up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Demo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lphaL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Astropy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Lecture Engagement</a:t>
            </a:r>
            <a:endParaRPr b="1" sz="300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:) </a:t>
            </a: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:) :) :) :) :) :) :) :) :) :) :)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88" name="Google Shape;288;p33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Announcements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89" name="Google Shape;289;p33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01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3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" name="Google Shape;292;p33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293" name="Google Shape;293;p33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3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3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3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8" name="Google Shape;298;p33"/>
            <p:cNvCxnSpPr>
              <a:stCxn id="297" idx="6"/>
              <a:endCxn id="296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33"/>
            <p:cNvCxnSpPr>
              <a:stCxn id="294" idx="0"/>
              <a:endCxn id="296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33"/>
            <p:cNvCxnSpPr>
              <a:stCxn id="293" idx="7"/>
              <a:endCxn id="294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33"/>
            <p:cNvCxnSpPr>
              <a:stCxn id="295" idx="1"/>
              <a:endCxn id="294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02" name="Google Shape;302;p33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303" name="Google Shape;303;p33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3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3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6" name="Google Shape;306;p33"/>
            <p:cNvCxnSpPr>
              <a:stCxn id="307" idx="6"/>
              <a:endCxn id="305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8" name="Google Shape;308;p33"/>
            <p:cNvCxnSpPr>
              <a:stCxn id="303" idx="7"/>
              <a:endCxn id="305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9" name="Google Shape;309;p33"/>
            <p:cNvCxnSpPr>
              <a:stCxn id="310" idx="3"/>
              <a:endCxn id="303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33"/>
            <p:cNvCxnSpPr>
              <a:stCxn id="304" idx="6"/>
              <a:endCxn id="303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07" name="Google Shape;307;p33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3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2" name="Google Shape;312;p33"/>
          <p:cNvGrpSpPr/>
          <p:nvPr/>
        </p:nvGrpSpPr>
        <p:grpSpPr>
          <a:xfrm>
            <a:off x="6519436" y="654744"/>
            <a:ext cx="1778596" cy="1403930"/>
            <a:chOff x="6529211" y="732969"/>
            <a:chExt cx="1778596" cy="1403930"/>
          </a:xfrm>
        </p:grpSpPr>
        <p:sp>
          <p:nvSpPr>
            <p:cNvPr id="313" name="Google Shape;313;p33"/>
            <p:cNvSpPr/>
            <p:nvPr/>
          </p:nvSpPr>
          <p:spPr>
            <a:xfrm rot="-2052942">
              <a:off x="7645107" y="839060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3"/>
            <p:cNvSpPr/>
            <p:nvPr/>
          </p:nvSpPr>
          <p:spPr>
            <a:xfrm rot="-2052942">
              <a:off x="6644530" y="1192463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3"/>
            <p:cNvSpPr/>
            <p:nvPr/>
          </p:nvSpPr>
          <p:spPr>
            <a:xfrm rot="-2052942">
              <a:off x="7439884" y="1144392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3"/>
            <p:cNvSpPr/>
            <p:nvPr/>
          </p:nvSpPr>
          <p:spPr>
            <a:xfrm rot="-2052942">
              <a:off x="8079473" y="2082725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3"/>
            <p:cNvSpPr/>
            <p:nvPr/>
          </p:nvSpPr>
          <p:spPr>
            <a:xfrm rot="-2052942">
              <a:off x="8160593" y="1394774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8" name="Google Shape;318;p33"/>
            <p:cNvCxnSpPr>
              <a:stCxn id="314" idx="7"/>
            </p:cNvCxnSpPr>
            <p:nvPr/>
          </p:nvCxnSpPr>
          <p:spPr>
            <a:xfrm flipH="1" rot="10800000">
              <a:off x="6671447" y="1183863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33"/>
            <p:cNvCxnSpPr/>
            <p:nvPr/>
          </p:nvCxnSpPr>
          <p:spPr>
            <a:xfrm rot="-3622858">
              <a:off x="7389482" y="951908"/>
              <a:ext cx="372700" cy="317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33"/>
            <p:cNvCxnSpPr/>
            <p:nvPr/>
          </p:nvCxnSpPr>
          <p:spPr>
            <a:xfrm flipH="1" rot="7178878">
              <a:off x="7507678" y="1139154"/>
              <a:ext cx="483959" cy="10088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33"/>
            <p:cNvCxnSpPr/>
            <p:nvPr/>
          </p:nvCxnSpPr>
          <p:spPr>
            <a:xfrm flipH="1" rot="7178735">
              <a:off x="7805685" y="805447"/>
              <a:ext cx="214704" cy="7085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33"/>
            <p:cNvCxnSpPr>
              <a:stCxn id="323" idx="2"/>
              <a:endCxn id="314" idx="5"/>
            </p:cNvCxnSpPr>
            <p:nvPr/>
          </p:nvCxnSpPr>
          <p:spPr>
            <a:xfrm>
              <a:off x="6529211" y="755619"/>
              <a:ext cx="160200" cy="46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23" name="Google Shape;323;p33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24" name="Google Shape;324;p33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1050575" y="926550"/>
            <a:ext cx="3279000" cy="3290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Announcements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330" name="Google Shape;330;p34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4"/>
          <p:cNvSpPr/>
          <p:nvPr/>
        </p:nvSpPr>
        <p:spPr>
          <a:xfrm flipH="1" rot="10800000">
            <a:off x="8424000" y="3256833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4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4"/>
          <p:cNvSpPr/>
          <p:nvPr/>
        </p:nvSpPr>
        <p:spPr>
          <a:xfrm>
            <a:off x="7622324" y="35331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5" name="Google Shape;335;p34"/>
          <p:cNvGrpSpPr/>
          <p:nvPr/>
        </p:nvGrpSpPr>
        <p:grpSpPr>
          <a:xfrm>
            <a:off x="7679230" y="3672624"/>
            <a:ext cx="1790195" cy="1790131"/>
            <a:chOff x="4536275" y="2503800"/>
            <a:chExt cx="690875" cy="690850"/>
          </a:xfrm>
        </p:grpSpPr>
        <p:sp>
          <p:nvSpPr>
            <p:cNvPr id="336" name="Google Shape;336;p34"/>
            <p:cNvSpPr/>
            <p:nvPr/>
          </p:nvSpPr>
          <p:spPr>
            <a:xfrm>
              <a:off x="4543825" y="2535925"/>
              <a:ext cx="513675" cy="255650"/>
            </a:xfrm>
            <a:custGeom>
              <a:rect b="b" l="l" r="r" t="t"/>
              <a:pathLst>
                <a:path extrusionOk="0" fill="none" h="10226" w="20547">
                  <a:moveTo>
                    <a:pt x="20546" y="643"/>
                  </a:moveTo>
                  <a:cubicBezTo>
                    <a:pt x="18127" y="3403"/>
                    <a:pt x="14555" y="4953"/>
                    <a:pt x="11096" y="6295"/>
                  </a:cubicBezTo>
                  <a:cubicBezTo>
                    <a:pt x="8109" y="7447"/>
                    <a:pt x="3422" y="10226"/>
                    <a:pt x="1" y="9716"/>
                  </a:cubicBezTo>
                  <a:cubicBezTo>
                    <a:pt x="209" y="8657"/>
                    <a:pt x="549" y="7636"/>
                    <a:pt x="1003" y="6673"/>
                  </a:cubicBezTo>
                  <a:cubicBezTo>
                    <a:pt x="2836" y="5898"/>
                    <a:pt x="4953" y="5236"/>
                    <a:pt x="5501" y="5028"/>
                  </a:cubicBezTo>
                  <a:cubicBezTo>
                    <a:pt x="9432" y="3573"/>
                    <a:pt x="13345" y="2099"/>
                    <a:pt x="17277" y="624"/>
                  </a:cubicBezTo>
                  <a:cubicBezTo>
                    <a:pt x="17938" y="379"/>
                    <a:pt x="18637" y="133"/>
                    <a:pt x="19337" y="1"/>
                  </a:cubicBezTo>
                  <a:cubicBezTo>
                    <a:pt x="19753" y="190"/>
                    <a:pt x="20150" y="397"/>
                    <a:pt x="20546" y="64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4"/>
            <p:cNvSpPr/>
            <p:nvPr/>
          </p:nvSpPr>
          <p:spPr>
            <a:xfrm>
              <a:off x="4568875" y="2503800"/>
              <a:ext cx="458375" cy="198950"/>
            </a:xfrm>
            <a:custGeom>
              <a:rect b="b" l="l" r="r" t="t"/>
              <a:pathLst>
                <a:path extrusionOk="0" fill="none" h="7958" w="18335">
                  <a:moveTo>
                    <a:pt x="4499" y="6313"/>
                  </a:moveTo>
                  <a:cubicBezTo>
                    <a:pt x="3970" y="6521"/>
                    <a:pt x="1834" y="7183"/>
                    <a:pt x="1" y="7958"/>
                  </a:cubicBezTo>
                  <a:cubicBezTo>
                    <a:pt x="2212" y="3251"/>
                    <a:pt x="6975" y="0"/>
                    <a:pt x="12513" y="0"/>
                  </a:cubicBezTo>
                  <a:cubicBezTo>
                    <a:pt x="14592" y="0"/>
                    <a:pt x="16577" y="454"/>
                    <a:pt x="18335" y="1286"/>
                  </a:cubicBezTo>
                  <a:cubicBezTo>
                    <a:pt x="17635" y="1399"/>
                    <a:pt x="16936" y="1664"/>
                    <a:pt x="16275" y="1909"/>
                  </a:cubicBezTo>
                  <a:cubicBezTo>
                    <a:pt x="12343" y="3384"/>
                    <a:pt x="8430" y="4839"/>
                    <a:pt x="4499" y="631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4"/>
            <p:cNvSpPr/>
            <p:nvPr/>
          </p:nvSpPr>
          <p:spPr>
            <a:xfrm>
              <a:off x="4542875" y="2660200"/>
              <a:ext cx="671975" cy="350150"/>
            </a:xfrm>
            <a:custGeom>
              <a:rect b="b" l="l" r="r" t="t"/>
              <a:pathLst>
                <a:path extrusionOk="0" fill="none" h="14006" w="26879">
                  <a:moveTo>
                    <a:pt x="26879" y="3837"/>
                  </a:moveTo>
                  <a:cubicBezTo>
                    <a:pt x="20962" y="7032"/>
                    <a:pt x="14045" y="8260"/>
                    <a:pt x="7788" y="10868"/>
                  </a:cubicBezTo>
                  <a:cubicBezTo>
                    <a:pt x="5558" y="11776"/>
                    <a:pt x="3479" y="12947"/>
                    <a:pt x="1343" y="14006"/>
                  </a:cubicBezTo>
                  <a:cubicBezTo>
                    <a:pt x="719" y="12853"/>
                    <a:pt x="266" y="11587"/>
                    <a:pt x="1" y="10245"/>
                  </a:cubicBezTo>
                  <a:cubicBezTo>
                    <a:pt x="7996" y="6427"/>
                    <a:pt x="16218" y="3043"/>
                    <a:pt x="24592" y="171"/>
                  </a:cubicBezTo>
                  <a:cubicBezTo>
                    <a:pt x="24762" y="114"/>
                    <a:pt x="24951" y="57"/>
                    <a:pt x="25121" y="0"/>
                  </a:cubicBezTo>
                  <a:cubicBezTo>
                    <a:pt x="25896" y="1153"/>
                    <a:pt x="26482" y="2458"/>
                    <a:pt x="26860" y="3837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4"/>
            <p:cNvSpPr/>
            <p:nvPr/>
          </p:nvSpPr>
          <p:spPr>
            <a:xfrm>
              <a:off x="4536275" y="2551525"/>
              <a:ext cx="634625" cy="364800"/>
            </a:xfrm>
            <a:custGeom>
              <a:rect b="b" l="l" r="r" t="t"/>
              <a:pathLst>
                <a:path extrusionOk="0" h="14592" w="25385">
                  <a:moveTo>
                    <a:pt x="20848" y="0"/>
                  </a:moveTo>
                  <a:cubicBezTo>
                    <a:pt x="18429" y="2779"/>
                    <a:pt x="14857" y="4310"/>
                    <a:pt x="11398" y="5652"/>
                  </a:cubicBezTo>
                  <a:cubicBezTo>
                    <a:pt x="8665" y="6707"/>
                    <a:pt x="4508" y="9139"/>
                    <a:pt x="1200" y="9139"/>
                  </a:cubicBezTo>
                  <a:cubicBezTo>
                    <a:pt x="893" y="9139"/>
                    <a:pt x="593" y="9118"/>
                    <a:pt x="303" y="9073"/>
                  </a:cubicBezTo>
                  <a:cubicBezTo>
                    <a:pt x="95" y="9999"/>
                    <a:pt x="0" y="10944"/>
                    <a:pt x="0" y="11908"/>
                  </a:cubicBezTo>
                  <a:cubicBezTo>
                    <a:pt x="0" y="12834"/>
                    <a:pt x="95" y="13722"/>
                    <a:pt x="265" y="14592"/>
                  </a:cubicBezTo>
                  <a:cubicBezTo>
                    <a:pt x="8260" y="10774"/>
                    <a:pt x="16482" y="7390"/>
                    <a:pt x="24856" y="4518"/>
                  </a:cubicBezTo>
                  <a:lnTo>
                    <a:pt x="24874" y="4518"/>
                  </a:lnTo>
                  <a:cubicBezTo>
                    <a:pt x="25045" y="4461"/>
                    <a:pt x="25215" y="4385"/>
                    <a:pt x="25385" y="4329"/>
                  </a:cubicBezTo>
                  <a:cubicBezTo>
                    <a:pt x="24232" y="2571"/>
                    <a:pt x="22682" y="1078"/>
                    <a:pt x="2084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4"/>
            <p:cNvSpPr/>
            <p:nvPr/>
          </p:nvSpPr>
          <p:spPr>
            <a:xfrm>
              <a:off x="4691725" y="2932375"/>
              <a:ext cx="525500" cy="227775"/>
            </a:xfrm>
            <a:custGeom>
              <a:rect b="b" l="l" r="r" t="t"/>
              <a:pathLst>
                <a:path extrusionOk="0" fill="none" h="9111" w="21020">
                  <a:moveTo>
                    <a:pt x="21019" y="0"/>
                  </a:moveTo>
                  <a:cubicBezTo>
                    <a:pt x="20887" y="548"/>
                    <a:pt x="20717" y="1078"/>
                    <a:pt x="20528" y="1588"/>
                  </a:cubicBezTo>
                  <a:lnTo>
                    <a:pt x="20528" y="1588"/>
                  </a:lnTo>
                  <a:cubicBezTo>
                    <a:pt x="20055" y="1909"/>
                    <a:pt x="19620" y="2212"/>
                    <a:pt x="19261" y="2401"/>
                  </a:cubicBezTo>
                  <a:cubicBezTo>
                    <a:pt x="17333" y="3440"/>
                    <a:pt x="15368" y="4385"/>
                    <a:pt x="13364" y="5236"/>
                  </a:cubicBezTo>
                  <a:cubicBezTo>
                    <a:pt x="9811" y="6767"/>
                    <a:pt x="6106" y="7995"/>
                    <a:pt x="2345" y="8940"/>
                  </a:cubicBezTo>
                  <a:cubicBezTo>
                    <a:pt x="2193" y="8978"/>
                    <a:pt x="1910" y="9054"/>
                    <a:pt x="1589" y="9110"/>
                  </a:cubicBezTo>
                  <a:cubicBezTo>
                    <a:pt x="1040" y="8846"/>
                    <a:pt x="511" y="8543"/>
                    <a:pt x="1" y="8222"/>
                  </a:cubicBezTo>
                  <a:cubicBezTo>
                    <a:pt x="1078" y="7617"/>
                    <a:pt x="3913" y="7353"/>
                    <a:pt x="4915" y="6975"/>
                  </a:cubicBezTo>
                  <a:cubicBezTo>
                    <a:pt x="10378" y="4952"/>
                    <a:pt x="15424" y="1682"/>
                    <a:pt x="21019" y="0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4"/>
            <p:cNvSpPr/>
            <p:nvPr/>
          </p:nvSpPr>
          <p:spPr>
            <a:xfrm>
              <a:off x="4731425" y="2972050"/>
              <a:ext cx="473500" cy="222600"/>
            </a:xfrm>
            <a:custGeom>
              <a:rect b="b" l="l" r="r" t="t"/>
              <a:pathLst>
                <a:path extrusionOk="0" fill="none" h="8904" w="18940">
                  <a:moveTo>
                    <a:pt x="17673" y="814"/>
                  </a:moveTo>
                  <a:cubicBezTo>
                    <a:pt x="18032" y="625"/>
                    <a:pt x="18467" y="322"/>
                    <a:pt x="18940" y="1"/>
                  </a:cubicBezTo>
                  <a:cubicBezTo>
                    <a:pt x="16955" y="5199"/>
                    <a:pt x="11927" y="8903"/>
                    <a:pt x="6011" y="8903"/>
                  </a:cubicBezTo>
                  <a:cubicBezTo>
                    <a:pt x="3856" y="8903"/>
                    <a:pt x="1815" y="8412"/>
                    <a:pt x="1" y="7523"/>
                  </a:cubicBezTo>
                  <a:cubicBezTo>
                    <a:pt x="322" y="7467"/>
                    <a:pt x="605" y="7391"/>
                    <a:pt x="757" y="7353"/>
                  </a:cubicBezTo>
                  <a:cubicBezTo>
                    <a:pt x="4537" y="6408"/>
                    <a:pt x="8223" y="5180"/>
                    <a:pt x="11795" y="3649"/>
                  </a:cubicBezTo>
                  <a:cubicBezTo>
                    <a:pt x="13780" y="2798"/>
                    <a:pt x="15745" y="1853"/>
                    <a:pt x="17673" y="81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4"/>
            <p:cNvSpPr/>
            <p:nvPr/>
          </p:nvSpPr>
          <p:spPr>
            <a:xfrm>
              <a:off x="4576425" y="2756125"/>
              <a:ext cx="650725" cy="381825"/>
            </a:xfrm>
            <a:custGeom>
              <a:rect b="b" l="l" r="r" t="t"/>
              <a:pathLst>
                <a:path extrusionOk="0" fill="none" h="15273" w="26029">
                  <a:moveTo>
                    <a:pt x="26028" y="3724"/>
                  </a:moveTo>
                  <a:cubicBezTo>
                    <a:pt x="26028" y="4877"/>
                    <a:pt x="25896" y="5973"/>
                    <a:pt x="25631" y="7050"/>
                  </a:cubicBezTo>
                  <a:cubicBezTo>
                    <a:pt x="20036" y="8714"/>
                    <a:pt x="14990" y="12002"/>
                    <a:pt x="9527" y="14025"/>
                  </a:cubicBezTo>
                  <a:cubicBezTo>
                    <a:pt x="8525" y="14403"/>
                    <a:pt x="5690" y="14667"/>
                    <a:pt x="4613" y="15272"/>
                  </a:cubicBezTo>
                  <a:cubicBezTo>
                    <a:pt x="2685" y="13987"/>
                    <a:pt x="1078" y="12229"/>
                    <a:pt x="1" y="10169"/>
                  </a:cubicBezTo>
                  <a:cubicBezTo>
                    <a:pt x="2137" y="9092"/>
                    <a:pt x="4216" y="7939"/>
                    <a:pt x="6446" y="7012"/>
                  </a:cubicBezTo>
                  <a:cubicBezTo>
                    <a:pt x="12703" y="4423"/>
                    <a:pt x="19620" y="3195"/>
                    <a:pt x="25537" y="0"/>
                  </a:cubicBezTo>
                  <a:cubicBezTo>
                    <a:pt x="25858" y="1172"/>
                    <a:pt x="26028" y="2438"/>
                    <a:pt x="26028" y="372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" name="Google Shape;343;p34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4"/>
          <p:cNvSpPr/>
          <p:nvPr/>
        </p:nvSpPr>
        <p:spPr>
          <a:xfrm>
            <a:off x="-1" y="43713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604975" y="1078625"/>
            <a:ext cx="79752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arker Grotesque"/>
              <a:buChar char="-"/>
            </a:pPr>
            <a:r>
              <a:rPr b="1" lang="en" sz="240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HW #9 is due </a:t>
            </a: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this</a:t>
            </a:r>
            <a:r>
              <a:rPr b="1" lang="en" sz="240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Wednesday, </a:t>
            </a:r>
            <a:r>
              <a:rPr b="1" lang="en" sz="2400" u="sng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Nov. 5th</a:t>
            </a:r>
            <a:r>
              <a:rPr b="1" lang="en" sz="2400">
                <a:solidFill>
                  <a:srgbClr val="00000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at 11:59 PM</a:t>
            </a:r>
            <a:endParaRPr b="1" sz="2400">
              <a:solidFill>
                <a:srgbClr val="000000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arker Grotesque"/>
              <a:buChar char="-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HW #10 was released today, Monday </a:t>
            </a:r>
            <a:r>
              <a:rPr b="1" lang="en" sz="2400" u="sng">
                <a:latin typeface="Darker Grotesque"/>
                <a:ea typeface="Darker Grotesque"/>
                <a:cs typeface="Darker Grotesque"/>
                <a:sym typeface="Darker Grotesque"/>
              </a:rPr>
              <a:t>Nov. 3rd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arker Grotesque"/>
              <a:buChar char="-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HW #10 is due next Wednesday, </a:t>
            </a:r>
            <a:r>
              <a:rPr b="1" lang="en" sz="2400" u="sng">
                <a:latin typeface="Darker Grotesque"/>
                <a:ea typeface="Darker Grotesque"/>
                <a:cs typeface="Darker Grotesque"/>
                <a:sym typeface="Darker Grotesque"/>
              </a:rPr>
              <a:t>Nov 12th</a:t>
            </a: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 at 11:59 PM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rgbClr val="000000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Let’s do a little review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51" name="Google Shape;351;p35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Warm-Up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52" name="Google Shape;352;p35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02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353" name="Google Shape;353;p35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5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5" name="Google Shape;355;p35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356" name="Google Shape;356;p35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5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5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5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5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1" name="Google Shape;361;p35"/>
            <p:cNvCxnSpPr>
              <a:stCxn id="360" idx="6"/>
              <a:endCxn id="359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62" name="Google Shape;362;p35"/>
            <p:cNvCxnSpPr>
              <a:stCxn id="357" idx="0"/>
              <a:endCxn id="359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63" name="Google Shape;363;p35"/>
            <p:cNvCxnSpPr>
              <a:stCxn id="356" idx="7"/>
              <a:endCxn id="357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64" name="Google Shape;364;p35"/>
            <p:cNvCxnSpPr>
              <a:stCxn id="358" idx="1"/>
              <a:endCxn id="357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5" name="Google Shape;365;p35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366" name="Google Shape;366;p35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5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9" name="Google Shape;369;p35"/>
            <p:cNvCxnSpPr>
              <a:stCxn id="370" idx="6"/>
              <a:endCxn id="368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p35"/>
            <p:cNvCxnSpPr>
              <a:stCxn id="366" idx="7"/>
              <a:endCxn id="368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p35"/>
            <p:cNvCxnSpPr>
              <a:stCxn id="373" idx="3"/>
              <a:endCxn id="366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35"/>
            <p:cNvCxnSpPr>
              <a:stCxn id="367" idx="6"/>
              <a:endCxn id="366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70" name="Google Shape;370;p35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5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35"/>
          <p:cNvGrpSpPr/>
          <p:nvPr/>
        </p:nvGrpSpPr>
        <p:grpSpPr>
          <a:xfrm>
            <a:off x="6519436" y="654744"/>
            <a:ext cx="1778485" cy="1403887"/>
            <a:chOff x="6529211" y="732969"/>
            <a:chExt cx="1778485" cy="1403887"/>
          </a:xfrm>
        </p:grpSpPr>
        <p:sp>
          <p:nvSpPr>
            <p:cNvPr id="376" name="Google Shape;376;p35"/>
            <p:cNvSpPr/>
            <p:nvPr/>
          </p:nvSpPr>
          <p:spPr>
            <a:xfrm rot="-2056760">
              <a:off x="7645095" y="838981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5"/>
            <p:cNvSpPr/>
            <p:nvPr/>
          </p:nvSpPr>
          <p:spPr>
            <a:xfrm rot="-2056760">
              <a:off x="6644518" y="1192384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 rot="-2056760">
              <a:off x="7439872" y="1144313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 rot="-2056760">
              <a:off x="8079460" y="2082646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5"/>
            <p:cNvSpPr/>
            <p:nvPr/>
          </p:nvSpPr>
          <p:spPr>
            <a:xfrm rot="-2056760">
              <a:off x="8160581" y="1394695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1" name="Google Shape;381;p35"/>
            <p:cNvCxnSpPr>
              <a:stCxn id="377" idx="7"/>
            </p:cNvCxnSpPr>
            <p:nvPr/>
          </p:nvCxnSpPr>
          <p:spPr>
            <a:xfrm flipH="1" rot="10800000">
              <a:off x="6671541" y="1183744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35"/>
            <p:cNvCxnSpPr/>
            <p:nvPr/>
          </p:nvCxnSpPr>
          <p:spPr>
            <a:xfrm rot="-3621831">
              <a:off x="7389574" y="951990"/>
              <a:ext cx="372607" cy="3180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35"/>
            <p:cNvCxnSpPr/>
            <p:nvPr/>
          </p:nvCxnSpPr>
          <p:spPr>
            <a:xfrm flipH="1" rot="7178169">
              <a:off x="7507629" y="1139134"/>
              <a:ext cx="483909" cy="10089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35"/>
            <p:cNvCxnSpPr/>
            <p:nvPr/>
          </p:nvCxnSpPr>
          <p:spPr>
            <a:xfrm flipH="1" rot="7178169">
              <a:off x="7805637" y="805386"/>
              <a:ext cx="214804" cy="70861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35"/>
            <p:cNvCxnSpPr>
              <a:stCxn id="386" idx="2"/>
              <a:endCxn id="377" idx="5"/>
            </p:cNvCxnSpPr>
            <p:nvPr/>
          </p:nvCxnSpPr>
          <p:spPr>
            <a:xfrm>
              <a:off x="6529211" y="755619"/>
              <a:ext cx="160500" cy="46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86" name="Google Shape;386;p35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87" name="Google Shape;387;p35" title="One-modifi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951" y="794562"/>
            <a:ext cx="3554399" cy="35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Warm-up questions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6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6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6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6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6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6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823575" y="1017725"/>
            <a:ext cx="7999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Please write your answers on a piece of paper: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How do you import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curve_fit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into a Jupyter Notebook?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What’s the difference between popt and pcov?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does it mean to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mask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your data?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Why do you use 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initial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guess (p0) in curve_fit?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Answers to Questions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06" name="Google Shape;406;p37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7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7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7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7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7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7"/>
          <p:cNvSpPr txBox="1"/>
          <p:nvPr/>
        </p:nvSpPr>
        <p:spPr>
          <a:xfrm>
            <a:off x="766650" y="1001700"/>
            <a:ext cx="7813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from scipy.optimize import curve_fit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popt = best-fit parameters of your model,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pcov = covariance matrix (uncertainties)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mask = exclude certain data points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helps the curve_fit algorithm find a solution faster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Astropy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419" name="Google Shape;419;p38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Demo: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420" name="Google Shape;420;p38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03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21" name="Google Shape;421;p38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8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38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424" name="Google Shape;424;p38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8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8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9" name="Google Shape;429;p38"/>
            <p:cNvCxnSpPr>
              <a:stCxn id="428" idx="6"/>
              <a:endCxn id="427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38"/>
            <p:cNvCxnSpPr>
              <a:stCxn id="425" idx="0"/>
              <a:endCxn id="427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38"/>
            <p:cNvCxnSpPr>
              <a:stCxn id="424" idx="7"/>
              <a:endCxn id="425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Google Shape;432;p38"/>
            <p:cNvCxnSpPr>
              <a:stCxn id="426" idx="1"/>
              <a:endCxn id="425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3" name="Google Shape;433;p38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434" name="Google Shape;434;p38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8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7" name="Google Shape;437;p38"/>
            <p:cNvCxnSpPr>
              <a:stCxn id="438" idx="6"/>
              <a:endCxn id="436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38"/>
            <p:cNvCxnSpPr>
              <a:stCxn id="434" idx="7"/>
              <a:endCxn id="436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40" name="Google Shape;440;p38"/>
            <p:cNvCxnSpPr>
              <a:stCxn id="441" idx="3"/>
              <a:endCxn id="434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42" name="Google Shape;442;p38"/>
            <p:cNvCxnSpPr>
              <a:stCxn id="435" idx="6"/>
              <a:endCxn id="434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438" name="Google Shape;438;p38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8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3" name="Google Shape;443;p38"/>
          <p:cNvGrpSpPr/>
          <p:nvPr/>
        </p:nvGrpSpPr>
        <p:grpSpPr>
          <a:xfrm>
            <a:off x="6519436" y="654744"/>
            <a:ext cx="1778596" cy="1403930"/>
            <a:chOff x="6529211" y="732969"/>
            <a:chExt cx="1778596" cy="1403930"/>
          </a:xfrm>
        </p:grpSpPr>
        <p:sp>
          <p:nvSpPr>
            <p:cNvPr id="444" name="Google Shape;444;p38"/>
            <p:cNvSpPr/>
            <p:nvPr/>
          </p:nvSpPr>
          <p:spPr>
            <a:xfrm rot="-2052942">
              <a:off x="7645107" y="839060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8"/>
            <p:cNvSpPr/>
            <p:nvPr/>
          </p:nvSpPr>
          <p:spPr>
            <a:xfrm rot="-2052942">
              <a:off x="6644530" y="1192463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 rot="-2052942">
              <a:off x="7439884" y="1144392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8"/>
            <p:cNvSpPr/>
            <p:nvPr/>
          </p:nvSpPr>
          <p:spPr>
            <a:xfrm rot="-2052942">
              <a:off x="8079473" y="2082725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8"/>
            <p:cNvSpPr/>
            <p:nvPr/>
          </p:nvSpPr>
          <p:spPr>
            <a:xfrm rot="-2052942">
              <a:off x="8160593" y="1394774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9" name="Google Shape;449;p38"/>
            <p:cNvCxnSpPr>
              <a:stCxn id="445" idx="7"/>
            </p:cNvCxnSpPr>
            <p:nvPr/>
          </p:nvCxnSpPr>
          <p:spPr>
            <a:xfrm flipH="1" rot="10800000">
              <a:off x="6671447" y="1183863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38"/>
            <p:cNvCxnSpPr/>
            <p:nvPr/>
          </p:nvCxnSpPr>
          <p:spPr>
            <a:xfrm rot="-3622858">
              <a:off x="7389482" y="951908"/>
              <a:ext cx="372700" cy="317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38"/>
            <p:cNvCxnSpPr/>
            <p:nvPr/>
          </p:nvCxnSpPr>
          <p:spPr>
            <a:xfrm flipH="1" rot="7178878">
              <a:off x="7507678" y="1139154"/>
              <a:ext cx="483959" cy="10088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38"/>
            <p:cNvCxnSpPr/>
            <p:nvPr/>
          </p:nvCxnSpPr>
          <p:spPr>
            <a:xfrm flipH="1" rot="7178735">
              <a:off x="7805685" y="805447"/>
              <a:ext cx="214704" cy="7085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38"/>
            <p:cNvCxnSpPr>
              <a:stCxn id="454" idx="2"/>
              <a:endCxn id="445" idx="5"/>
            </p:cNvCxnSpPr>
            <p:nvPr/>
          </p:nvCxnSpPr>
          <p:spPr>
            <a:xfrm>
              <a:off x="6529211" y="755619"/>
              <a:ext cx="160200" cy="46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454" name="Google Shape;454;p38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55" name="Google Shape;455;p38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1050575" y="926550"/>
            <a:ext cx="3279000" cy="3290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9"/>
          <p:cNvSpPr txBox="1"/>
          <p:nvPr>
            <p:ph type="title"/>
          </p:nvPr>
        </p:nvSpPr>
        <p:spPr>
          <a:xfrm>
            <a:off x="490250" y="450150"/>
            <a:ext cx="674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Astropy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61" name="Google Shape;461;p39"/>
          <p:cNvSpPr/>
          <p:nvPr/>
        </p:nvSpPr>
        <p:spPr>
          <a:xfrm flipH="1" rot="10800000">
            <a:off x="2434678" y="31975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9"/>
          <p:cNvSpPr/>
          <p:nvPr/>
        </p:nvSpPr>
        <p:spPr>
          <a:xfrm flipH="1" rot="10800000">
            <a:off x="7238914" y="2200304"/>
            <a:ext cx="177823" cy="246359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9"/>
          <p:cNvSpPr/>
          <p:nvPr/>
        </p:nvSpPr>
        <p:spPr>
          <a:xfrm flipH="1" rot="10800000">
            <a:off x="1798800" y="1632246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9"/>
          <p:cNvSpPr/>
          <p:nvPr/>
        </p:nvSpPr>
        <p:spPr>
          <a:xfrm>
            <a:off x="1319675" y="2336527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9"/>
          <p:cNvSpPr/>
          <p:nvPr/>
        </p:nvSpPr>
        <p:spPr>
          <a:xfrm>
            <a:off x="7172349" y="31975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solidFill>
            <a:schemeClr val="dk1"/>
          </a:solidFill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9"/>
          <p:cNvSpPr/>
          <p:nvPr/>
        </p:nvSpPr>
        <p:spPr>
          <a:xfrm flipH="1" rot="10800000">
            <a:off x="7902872" y="1416375"/>
            <a:ext cx="596611" cy="783927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7" name="Google Shape;467;p39"/>
          <p:cNvGrpSpPr/>
          <p:nvPr/>
        </p:nvGrpSpPr>
        <p:grpSpPr>
          <a:xfrm>
            <a:off x="4902774" y="4008145"/>
            <a:ext cx="1293257" cy="816748"/>
            <a:chOff x="4241511" y="3093920"/>
            <a:chExt cx="1293257" cy="816748"/>
          </a:xfrm>
        </p:grpSpPr>
        <p:sp>
          <p:nvSpPr>
            <p:cNvPr id="468" name="Google Shape;468;p39"/>
            <p:cNvSpPr/>
            <p:nvPr/>
          </p:nvSpPr>
          <p:spPr>
            <a:xfrm>
              <a:off x="5489169" y="3321274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9"/>
            <p:cNvSpPr/>
            <p:nvPr/>
          </p:nvSpPr>
          <p:spPr>
            <a:xfrm>
              <a:off x="4241511" y="3273617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9"/>
            <p:cNvSpPr/>
            <p:nvPr/>
          </p:nvSpPr>
          <p:spPr>
            <a:xfrm>
              <a:off x="5147645" y="3093920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9"/>
            <p:cNvSpPr/>
            <p:nvPr/>
          </p:nvSpPr>
          <p:spPr>
            <a:xfrm>
              <a:off x="4829096" y="3865368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72" name="Google Shape;472;p39"/>
            <p:cNvCxnSpPr>
              <a:stCxn id="469" idx="2"/>
              <a:endCxn id="470" idx="6"/>
            </p:cNvCxnSpPr>
            <p:nvPr/>
          </p:nvCxnSpPr>
          <p:spPr>
            <a:xfrm flipH="1" rot="10800000">
              <a:off x="4241511" y="3116567"/>
              <a:ext cx="951600" cy="179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73" name="Google Shape;473;p39"/>
            <p:cNvCxnSpPr>
              <a:stCxn id="470" idx="3"/>
              <a:endCxn id="468" idx="4"/>
            </p:cNvCxnSpPr>
            <p:nvPr/>
          </p:nvCxnSpPr>
          <p:spPr>
            <a:xfrm>
              <a:off x="5154323" y="3132586"/>
              <a:ext cx="357600" cy="234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74" name="Google Shape;474;p39"/>
            <p:cNvCxnSpPr>
              <a:stCxn id="471" idx="0"/>
              <a:endCxn id="470" idx="7"/>
            </p:cNvCxnSpPr>
            <p:nvPr/>
          </p:nvCxnSpPr>
          <p:spPr>
            <a:xfrm flipH="1" rot="10800000">
              <a:off x="4851896" y="3100668"/>
              <a:ext cx="334800" cy="76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75" name="Google Shape;475;p39"/>
          <p:cNvGrpSpPr/>
          <p:nvPr/>
        </p:nvGrpSpPr>
        <p:grpSpPr>
          <a:xfrm>
            <a:off x="5317472" y="395234"/>
            <a:ext cx="1155133" cy="834406"/>
            <a:chOff x="3971622" y="425972"/>
            <a:chExt cx="1155133" cy="834406"/>
          </a:xfrm>
        </p:grpSpPr>
        <p:sp>
          <p:nvSpPr>
            <p:cNvPr id="476" name="Google Shape;476;p39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9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9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81" name="Google Shape;481;p39"/>
            <p:cNvCxnSpPr>
              <a:stCxn id="480" idx="6"/>
              <a:endCxn id="479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39"/>
            <p:cNvCxnSpPr>
              <a:stCxn id="477" idx="0"/>
              <a:endCxn id="479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39"/>
            <p:cNvCxnSpPr>
              <a:stCxn id="476" idx="7"/>
              <a:endCxn id="477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39"/>
            <p:cNvCxnSpPr>
              <a:stCxn id="478" idx="1"/>
              <a:endCxn id="477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85" name="Google Shape;485;p39"/>
          <p:cNvGrpSpPr/>
          <p:nvPr/>
        </p:nvGrpSpPr>
        <p:grpSpPr>
          <a:xfrm>
            <a:off x="3132742" y="415054"/>
            <a:ext cx="1063248" cy="794771"/>
            <a:chOff x="408542" y="748767"/>
            <a:chExt cx="1063248" cy="794771"/>
          </a:xfrm>
        </p:grpSpPr>
        <p:sp>
          <p:nvSpPr>
            <p:cNvPr id="486" name="Google Shape;486;p39"/>
            <p:cNvSpPr/>
            <p:nvPr/>
          </p:nvSpPr>
          <p:spPr>
            <a:xfrm>
              <a:off x="1313244" y="748767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408542" y="1066462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9"/>
            <p:cNvSpPr/>
            <p:nvPr/>
          </p:nvSpPr>
          <p:spPr>
            <a:xfrm>
              <a:off x="971721" y="885466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9"/>
            <p:cNvSpPr/>
            <p:nvPr/>
          </p:nvSpPr>
          <p:spPr>
            <a:xfrm>
              <a:off x="788619" y="1474392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9"/>
            <p:cNvSpPr/>
            <p:nvPr/>
          </p:nvSpPr>
          <p:spPr>
            <a:xfrm>
              <a:off x="1426190" y="149823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91" name="Google Shape;491;p39"/>
            <p:cNvCxnSpPr>
              <a:stCxn id="487" idx="4"/>
              <a:endCxn id="488" idx="7"/>
            </p:cNvCxnSpPr>
            <p:nvPr/>
          </p:nvCxnSpPr>
          <p:spPr>
            <a:xfrm flipH="1" rot="10800000">
              <a:off x="431342" y="892162"/>
              <a:ext cx="579300" cy="21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39"/>
            <p:cNvCxnSpPr>
              <a:endCxn id="486" idx="5"/>
            </p:cNvCxnSpPr>
            <p:nvPr/>
          </p:nvCxnSpPr>
          <p:spPr>
            <a:xfrm flipH="1" rot="10800000">
              <a:off x="1003566" y="787433"/>
              <a:ext cx="348600" cy="13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39"/>
            <p:cNvCxnSpPr>
              <a:stCxn id="489" idx="4"/>
              <a:endCxn id="488" idx="4"/>
            </p:cNvCxnSpPr>
            <p:nvPr/>
          </p:nvCxnSpPr>
          <p:spPr>
            <a:xfrm flipH="1" rot="10800000">
              <a:off x="811419" y="930792"/>
              <a:ext cx="183000" cy="58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39"/>
            <p:cNvCxnSpPr>
              <a:endCxn id="486" idx="5"/>
            </p:cNvCxnSpPr>
            <p:nvPr/>
          </p:nvCxnSpPr>
          <p:spPr>
            <a:xfrm rot="10800000">
              <a:off x="1352166" y="787433"/>
              <a:ext cx="118500" cy="73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95" name="Google Shape;495;p39"/>
          <p:cNvGrpSpPr/>
          <p:nvPr/>
        </p:nvGrpSpPr>
        <p:grpSpPr>
          <a:xfrm>
            <a:off x="-316428" y="3583200"/>
            <a:ext cx="1778013" cy="1778013"/>
            <a:chOff x="3492925" y="2503325"/>
            <a:chExt cx="687075" cy="687075"/>
          </a:xfrm>
        </p:grpSpPr>
        <p:sp>
          <p:nvSpPr>
            <p:cNvPr id="496" name="Google Shape;496;p39"/>
            <p:cNvSpPr/>
            <p:nvPr/>
          </p:nvSpPr>
          <p:spPr>
            <a:xfrm>
              <a:off x="3549150" y="2503325"/>
              <a:ext cx="618100" cy="253775"/>
            </a:xfrm>
            <a:custGeom>
              <a:rect b="b" l="l" r="r" t="t"/>
              <a:pathLst>
                <a:path extrusionOk="0" fill="none" h="10151" w="24724">
                  <a:moveTo>
                    <a:pt x="24723" y="10037"/>
                  </a:moveTo>
                  <a:cubicBezTo>
                    <a:pt x="19166" y="10150"/>
                    <a:pt x="13609" y="9621"/>
                    <a:pt x="8166" y="8468"/>
                  </a:cubicBezTo>
                  <a:cubicBezTo>
                    <a:pt x="5406" y="7882"/>
                    <a:pt x="2684" y="7126"/>
                    <a:pt x="0" y="6219"/>
                  </a:cubicBezTo>
                  <a:cubicBezTo>
                    <a:pt x="700" y="5160"/>
                    <a:pt x="1550" y="4177"/>
                    <a:pt x="2514" y="3365"/>
                  </a:cubicBezTo>
                  <a:cubicBezTo>
                    <a:pt x="3100" y="3610"/>
                    <a:pt x="3686" y="3875"/>
                    <a:pt x="4291" y="4102"/>
                  </a:cubicBezTo>
                  <a:cubicBezTo>
                    <a:pt x="6975" y="5141"/>
                    <a:pt x="10169" y="5690"/>
                    <a:pt x="12627" y="4177"/>
                  </a:cubicBezTo>
                  <a:cubicBezTo>
                    <a:pt x="9943" y="3724"/>
                    <a:pt x="7334" y="2892"/>
                    <a:pt x="4877" y="1701"/>
                  </a:cubicBezTo>
                  <a:cubicBezTo>
                    <a:pt x="6843" y="624"/>
                    <a:pt x="9092" y="0"/>
                    <a:pt x="11492" y="0"/>
                  </a:cubicBezTo>
                  <a:cubicBezTo>
                    <a:pt x="17806" y="0"/>
                    <a:pt x="23117" y="4253"/>
                    <a:pt x="24723" y="10037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2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3612000" y="2545850"/>
              <a:ext cx="252825" cy="99725"/>
            </a:xfrm>
            <a:custGeom>
              <a:rect b="b" l="l" r="r" t="t"/>
              <a:pathLst>
                <a:path extrusionOk="0" fill="none" h="3989" w="10113">
                  <a:moveTo>
                    <a:pt x="1777" y="2401"/>
                  </a:moveTo>
                  <a:cubicBezTo>
                    <a:pt x="1172" y="2174"/>
                    <a:pt x="586" y="1909"/>
                    <a:pt x="0" y="1645"/>
                  </a:cubicBezTo>
                  <a:cubicBezTo>
                    <a:pt x="719" y="1021"/>
                    <a:pt x="1512" y="473"/>
                    <a:pt x="2363" y="0"/>
                  </a:cubicBezTo>
                  <a:cubicBezTo>
                    <a:pt x="4801" y="1191"/>
                    <a:pt x="7429" y="2023"/>
                    <a:pt x="10113" y="2476"/>
                  </a:cubicBezTo>
                  <a:cubicBezTo>
                    <a:pt x="7655" y="3989"/>
                    <a:pt x="4461" y="3440"/>
                    <a:pt x="1777" y="2401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2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8" name="Google Shape;498;p39"/>
            <p:cNvSpPr/>
            <p:nvPr/>
          </p:nvSpPr>
          <p:spPr>
            <a:xfrm>
              <a:off x="3494325" y="2688075"/>
              <a:ext cx="342150" cy="213600"/>
            </a:xfrm>
            <a:custGeom>
              <a:rect b="b" l="l" r="r" t="t"/>
              <a:pathLst>
                <a:path extrusionOk="0" fill="none" h="8544" w="13686">
                  <a:moveTo>
                    <a:pt x="8885" y="8544"/>
                  </a:moveTo>
                  <a:cubicBezTo>
                    <a:pt x="5860" y="7599"/>
                    <a:pt x="2893" y="6484"/>
                    <a:pt x="1" y="5179"/>
                  </a:cubicBezTo>
                  <a:cubicBezTo>
                    <a:pt x="152" y="3327"/>
                    <a:pt x="681" y="1569"/>
                    <a:pt x="1513" y="1"/>
                  </a:cubicBezTo>
                  <a:cubicBezTo>
                    <a:pt x="5482" y="1702"/>
                    <a:pt x="9546" y="3195"/>
                    <a:pt x="13685" y="4442"/>
                  </a:cubicBezTo>
                  <a:cubicBezTo>
                    <a:pt x="11587" y="6332"/>
                    <a:pt x="8450" y="6975"/>
                    <a:pt x="5766" y="6087"/>
                  </a:cubicBezTo>
                  <a:cubicBezTo>
                    <a:pt x="7070" y="6484"/>
                    <a:pt x="8204" y="7372"/>
                    <a:pt x="8885" y="854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2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99" name="Google Shape;499;p39"/>
            <p:cNvSpPr/>
            <p:nvPr/>
          </p:nvSpPr>
          <p:spPr>
            <a:xfrm>
              <a:off x="3769350" y="2868575"/>
              <a:ext cx="409250" cy="103050"/>
            </a:xfrm>
            <a:custGeom>
              <a:rect b="b" l="l" r="r" t="t"/>
              <a:pathLst>
                <a:path extrusionOk="0" fill="none" h="4122" w="16370">
                  <a:moveTo>
                    <a:pt x="16369" y="454"/>
                  </a:moveTo>
                  <a:cubicBezTo>
                    <a:pt x="16237" y="1740"/>
                    <a:pt x="15953" y="2968"/>
                    <a:pt x="15500" y="4121"/>
                  </a:cubicBezTo>
                  <a:cubicBezTo>
                    <a:pt x="15481" y="4121"/>
                    <a:pt x="15481" y="4121"/>
                    <a:pt x="15462" y="4102"/>
                  </a:cubicBezTo>
                  <a:cubicBezTo>
                    <a:pt x="14139" y="3724"/>
                    <a:pt x="12891" y="3157"/>
                    <a:pt x="11568" y="2798"/>
                  </a:cubicBezTo>
                  <a:cubicBezTo>
                    <a:pt x="7731" y="1777"/>
                    <a:pt x="3346" y="2420"/>
                    <a:pt x="0" y="265"/>
                  </a:cubicBezTo>
                  <a:cubicBezTo>
                    <a:pt x="5444" y="1"/>
                    <a:pt x="10925" y="57"/>
                    <a:pt x="16369" y="45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2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00" name="Google Shape;500;p39"/>
            <p:cNvSpPr/>
            <p:nvPr/>
          </p:nvSpPr>
          <p:spPr>
            <a:xfrm>
              <a:off x="3493400" y="2857250"/>
              <a:ext cx="642650" cy="333150"/>
            </a:xfrm>
            <a:custGeom>
              <a:rect b="b" l="l" r="r" t="t"/>
              <a:pathLst>
                <a:path extrusionOk="0" fill="none" h="13326" w="25706">
                  <a:moveTo>
                    <a:pt x="25706" y="6332"/>
                  </a:moveTo>
                  <a:cubicBezTo>
                    <a:pt x="23343" y="10509"/>
                    <a:pt x="18864" y="13325"/>
                    <a:pt x="13722" y="13325"/>
                  </a:cubicBezTo>
                  <a:cubicBezTo>
                    <a:pt x="6275" y="13325"/>
                    <a:pt x="208" y="7409"/>
                    <a:pt x="0" y="0"/>
                  </a:cubicBezTo>
                  <a:cubicBezTo>
                    <a:pt x="718" y="473"/>
                    <a:pt x="1437" y="964"/>
                    <a:pt x="2041" y="1304"/>
                  </a:cubicBezTo>
                  <a:cubicBezTo>
                    <a:pt x="3969" y="2419"/>
                    <a:pt x="5916" y="3534"/>
                    <a:pt x="8014" y="4272"/>
                  </a:cubicBezTo>
                  <a:cubicBezTo>
                    <a:pt x="10660" y="5198"/>
                    <a:pt x="13477" y="5500"/>
                    <a:pt x="16255" y="5727"/>
                  </a:cubicBezTo>
                  <a:cubicBezTo>
                    <a:pt x="19393" y="5992"/>
                    <a:pt x="22549" y="6199"/>
                    <a:pt x="25706" y="6332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2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3492925" y="2658775"/>
              <a:ext cx="687075" cy="356775"/>
            </a:xfrm>
            <a:custGeom>
              <a:rect b="b" l="l" r="r" t="t"/>
              <a:pathLst>
                <a:path extrusionOk="0" h="14271" w="27483">
                  <a:moveTo>
                    <a:pt x="5822" y="7259"/>
                  </a:moveTo>
                  <a:cubicBezTo>
                    <a:pt x="5870" y="7275"/>
                    <a:pt x="5918" y="7290"/>
                    <a:pt x="5967" y="7305"/>
                  </a:cubicBezTo>
                  <a:lnTo>
                    <a:pt x="5967" y="7305"/>
                  </a:lnTo>
                  <a:cubicBezTo>
                    <a:pt x="5919" y="7289"/>
                    <a:pt x="5870" y="7273"/>
                    <a:pt x="5822" y="7259"/>
                  </a:cubicBezTo>
                  <a:close/>
                  <a:moveTo>
                    <a:pt x="2249" y="1"/>
                  </a:moveTo>
                  <a:cubicBezTo>
                    <a:pt x="1985" y="379"/>
                    <a:pt x="1758" y="776"/>
                    <a:pt x="1569" y="1173"/>
                  </a:cubicBezTo>
                  <a:cubicBezTo>
                    <a:pt x="5538" y="2874"/>
                    <a:pt x="9602" y="4367"/>
                    <a:pt x="13741" y="5633"/>
                  </a:cubicBezTo>
                  <a:cubicBezTo>
                    <a:pt x="12257" y="6945"/>
                    <a:pt x="10281" y="7653"/>
                    <a:pt x="8307" y="7653"/>
                  </a:cubicBezTo>
                  <a:cubicBezTo>
                    <a:pt x="7516" y="7653"/>
                    <a:pt x="6725" y="7539"/>
                    <a:pt x="5967" y="7305"/>
                  </a:cubicBezTo>
                  <a:lnTo>
                    <a:pt x="5967" y="7305"/>
                  </a:lnTo>
                  <a:cubicBezTo>
                    <a:pt x="7210" y="7722"/>
                    <a:pt x="8285" y="8587"/>
                    <a:pt x="8922" y="9716"/>
                  </a:cubicBezTo>
                  <a:cubicBezTo>
                    <a:pt x="5916" y="8771"/>
                    <a:pt x="2949" y="7656"/>
                    <a:pt x="57" y="6351"/>
                  </a:cubicBezTo>
                  <a:cubicBezTo>
                    <a:pt x="19" y="6729"/>
                    <a:pt x="0" y="7126"/>
                    <a:pt x="0" y="7523"/>
                  </a:cubicBezTo>
                  <a:cubicBezTo>
                    <a:pt x="0" y="7674"/>
                    <a:pt x="0" y="7807"/>
                    <a:pt x="19" y="7939"/>
                  </a:cubicBezTo>
                  <a:cubicBezTo>
                    <a:pt x="737" y="8412"/>
                    <a:pt x="1456" y="8903"/>
                    <a:pt x="2060" y="9243"/>
                  </a:cubicBezTo>
                  <a:cubicBezTo>
                    <a:pt x="3988" y="10358"/>
                    <a:pt x="5935" y="11473"/>
                    <a:pt x="8033" y="12211"/>
                  </a:cubicBezTo>
                  <a:cubicBezTo>
                    <a:pt x="10679" y="13137"/>
                    <a:pt x="13477" y="13439"/>
                    <a:pt x="16274" y="13666"/>
                  </a:cubicBezTo>
                  <a:cubicBezTo>
                    <a:pt x="19412" y="13931"/>
                    <a:pt x="22568" y="14138"/>
                    <a:pt x="25725" y="14271"/>
                  </a:cubicBezTo>
                  <a:cubicBezTo>
                    <a:pt x="26027" y="13704"/>
                    <a:pt x="26311" y="13118"/>
                    <a:pt x="26557" y="12513"/>
                  </a:cubicBezTo>
                  <a:cubicBezTo>
                    <a:pt x="26538" y="12513"/>
                    <a:pt x="26519" y="12513"/>
                    <a:pt x="26519" y="12494"/>
                  </a:cubicBezTo>
                  <a:cubicBezTo>
                    <a:pt x="25196" y="12116"/>
                    <a:pt x="23948" y="11549"/>
                    <a:pt x="22625" y="11190"/>
                  </a:cubicBezTo>
                  <a:cubicBezTo>
                    <a:pt x="18788" y="10169"/>
                    <a:pt x="14384" y="10812"/>
                    <a:pt x="11057" y="8657"/>
                  </a:cubicBezTo>
                  <a:cubicBezTo>
                    <a:pt x="13272" y="8550"/>
                    <a:pt x="15494" y="8495"/>
                    <a:pt x="17716" y="8495"/>
                  </a:cubicBezTo>
                  <a:cubicBezTo>
                    <a:pt x="20956" y="8495"/>
                    <a:pt x="24197" y="8611"/>
                    <a:pt x="27426" y="8846"/>
                  </a:cubicBezTo>
                  <a:cubicBezTo>
                    <a:pt x="27464" y="8412"/>
                    <a:pt x="27483" y="7977"/>
                    <a:pt x="27483" y="7523"/>
                  </a:cubicBezTo>
                  <a:cubicBezTo>
                    <a:pt x="27483" y="6238"/>
                    <a:pt x="27313" y="5009"/>
                    <a:pt x="26972" y="3819"/>
                  </a:cubicBezTo>
                  <a:cubicBezTo>
                    <a:pt x="26481" y="3829"/>
                    <a:pt x="25990" y="3834"/>
                    <a:pt x="25500" y="3834"/>
                  </a:cubicBezTo>
                  <a:cubicBezTo>
                    <a:pt x="20434" y="3834"/>
                    <a:pt x="15377" y="3301"/>
                    <a:pt x="10415" y="2250"/>
                  </a:cubicBezTo>
                  <a:cubicBezTo>
                    <a:pt x="7655" y="1664"/>
                    <a:pt x="4915" y="908"/>
                    <a:pt x="224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502" name="Google Shape;502;p39"/>
          <p:cNvSpPr/>
          <p:nvPr/>
        </p:nvSpPr>
        <p:spPr>
          <a:xfrm rot="-1799349">
            <a:off x="5461891" y="3641507"/>
            <a:ext cx="5638249" cy="166138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9"/>
          <p:cNvSpPr/>
          <p:nvPr/>
        </p:nvSpPr>
        <p:spPr>
          <a:xfrm flipH="1" rot="10800000">
            <a:off x="8027697" y="4195650"/>
            <a:ext cx="596611" cy="783927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9"/>
          <p:cNvSpPr/>
          <p:nvPr/>
        </p:nvSpPr>
        <p:spPr>
          <a:xfrm flipH="1" rot="10800000">
            <a:off x="317922" y="224050"/>
            <a:ext cx="596611" cy="783927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Practice Questions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10" name="Google Shape;510;p40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0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0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0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0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0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0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0"/>
          <p:cNvSpPr txBox="1"/>
          <p:nvPr/>
        </p:nvSpPr>
        <p:spPr>
          <a:xfrm>
            <a:off x="720000" y="1017725"/>
            <a:ext cx="7363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With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distance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,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velocity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and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time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: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Convert distance to AU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Convert velocity to m/s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Convert time to minutes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happens if you add distance + velocity?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With: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travel_time = (500 * u.km) / (100 * u.m / u.s)</a:t>
            </a:r>
            <a:endParaRPr b="1" sz="2400" u="sng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are the units of travel time?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Convert travel time to seconds and minutes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Answers to Questions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23" name="Google Shape;523;p41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1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1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1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1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1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1"/>
          <p:cNvSpPr txBox="1"/>
          <p:nvPr/>
        </p:nvSpPr>
        <p:spPr>
          <a:xfrm>
            <a:off x="720000" y="1017725"/>
            <a:ext cx="736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531" name="Google Shape;531;p41" title="Screenshot 2025-08-02 at 6.19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2827" y="1017725"/>
            <a:ext cx="2858360" cy="35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Practice Questions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37" name="Google Shape;537;p42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2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2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2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2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2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2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2"/>
          <p:cNvSpPr txBox="1"/>
          <p:nvPr/>
        </p:nvSpPr>
        <p:spPr>
          <a:xfrm>
            <a:off x="720000" y="1017725"/>
            <a:ext cx="7363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Calculate the energy in joules for: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5 kg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 gram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1 solar mass (const.M_sun)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Calculate the escape velocity from Earth: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v_esc = sqrt(2 * G * M / R)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Mass of earth = const.M_earth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G = const.G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3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Show us what you know!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550" name="Google Shape;550;p43"/>
          <p:cNvSpPr txBox="1"/>
          <p:nvPr>
            <p:ph type="title"/>
          </p:nvPr>
        </p:nvSpPr>
        <p:spPr>
          <a:xfrm>
            <a:off x="5042000" y="2403975"/>
            <a:ext cx="3848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Lecture Engagement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551" name="Google Shape;551;p43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04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52" name="Google Shape;552;p43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3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4" name="Google Shape;554;p43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555" name="Google Shape;555;p43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3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3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3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3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60" name="Google Shape;560;p43"/>
            <p:cNvCxnSpPr>
              <a:stCxn id="559" idx="6"/>
              <a:endCxn id="558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43"/>
            <p:cNvCxnSpPr>
              <a:stCxn id="556" idx="0"/>
              <a:endCxn id="558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43"/>
            <p:cNvCxnSpPr>
              <a:stCxn id="555" idx="7"/>
              <a:endCxn id="556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43"/>
            <p:cNvCxnSpPr>
              <a:stCxn id="557" idx="1"/>
              <a:endCxn id="556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64" name="Google Shape;564;p43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565" name="Google Shape;565;p43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3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3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68" name="Google Shape;568;p43"/>
            <p:cNvCxnSpPr>
              <a:stCxn id="569" idx="6"/>
              <a:endCxn id="567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43"/>
            <p:cNvCxnSpPr>
              <a:stCxn id="565" idx="7"/>
              <a:endCxn id="567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43"/>
            <p:cNvCxnSpPr>
              <a:stCxn id="572" idx="3"/>
              <a:endCxn id="565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73" name="Google Shape;573;p43"/>
            <p:cNvCxnSpPr>
              <a:stCxn id="566" idx="6"/>
              <a:endCxn id="565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569" name="Google Shape;569;p43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3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43"/>
          <p:cNvGrpSpPr/>
          <p:nvPr/>
        </p:nvGrpSpPr>
        <p:grpSpPr>
          <a:xfrm>
            <a:off x="6519436" y="654744"/>
            <a:ext cx="1778596" cy="1403930"/>
            <a:chOff x="6529211" y="732969"/>
            <a:chExt cx="1778596" cy="1403930"/>
          </a:xfrm>
        </p:grpSpPr>
        <p:sp>
          <p:nvSpPr>
            <p:cNvPr id="575" name="Google Shape;575;p43"/>
            <p:cNvSpPr/>
            <p:nvPr/>
          </p:nvSpPr>
          <p:spPr>
            <a:xfrm rot="-2052942">
              <a:off x="7645107" y="839060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3"/>
            <p:cNvSpPr/>
            <p:nvPr/>
          </p:nvSpPr>
          <p:spPr>
            <a:xfrm rot="-2052942">
              <a:off x="6644530" y="1192463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3"/>
            <p:cNvSpPr/>
            <p:nvPr/>
          </p:nvSpPr>
          <p:spPr>
            <a:xfrm rot="-2052942">
              <a:off x="7439884" y="1144392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3"/>
            <p:cNvSpPr/>
            <p:nvPr/>
          </p:nvSpPr>
          <p:spPr>
            <a:xfrm rot="-2052942">
              <a:off x="8079473" y="2082725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3"/>
            <p:cNvSpPr/>
            <p:nvPr/>
          </p:nvSpPr>
          <p:spPr>
            <a:xfrm rot="-2052942">
              <a:off x="8160593" y="1394774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80" name="Google Shape;580;p43"/>
            <p:cNvCxnSpPr>
              <a:stCxn id="576" idx="7"/>
            </p:cNvCxnSpPr>
            <p:nvPr/>
          </p:nvCxnSpPr>
          <p:spPr>
            <a:xfrm flipH="1" rot="10800000">
              <a:off x="6671447" y="1183863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43"/>
            <p:cNvCxnSpPr/>
            <p:nvPr/>
          </p:nvCxnSpPr>
          <p:spPr>
            <a:xfrm rot="-3622858">
              <a:off x="7389482" y="951908"/>
              <a:ext cx="372700" cy="317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43"/>
            <p:cNvCxnSpPr/>
            <p:nvPr/>
          </p:nvCxnSpPr>
          <p:spPr>
            <a:xfrm flipH="1" rot="7178878">
              <a:off x="7507678" y="1139154"/>
              <a:ext cx="483959" cy="10088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43"/>
            <p:cNvCxnSpPr/>
            <p:nvPr/>
          </p:nvCxnSpPr>
          <p:spPr>
            <a:xfrm flipH="1" rot="7178735">
              <a:off x="7805685" y="805447"/>
              <a:ext cx="214704" cy="7085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43"/>
            <p:cNvCxnSpPr>
              <a:stCxn id="585" idx="2"/>
              <a:endCxn id="576" idx="5"/>
            </p:cNvCxnSpPr>
            <p:nvPr/>
          </p:nvCxnSpPr>
          <p:spPr>
            <a:xfrm>
              <a:off x="6529211" y="755619"/>
              <a:ext cx="160200" cy="46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585" name="Google Shape;585;p43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86" name="Google Shape;586;p43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1050575" y="926550"/>
            <a:ext cx="3279000" cy="3290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7" name="Google Shape;587;p43" title="One-mod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951" y="794562"/>
            <a:ext cx="3554399" cy="35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Lecture Engagement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93" name="Google Shape;593;p44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4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4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4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4"/>
          <p:cNvSpPr txBox="1"/>
          <p:nvPr/>
        </p:nvSpPr>
        <p:spPr>
          <a:xfrm>
            <a:off x="989675" y="1102450"/>
            <a:ext cx="37479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598" name="Google Shape;598;p44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9" name="Google Shape;599;p44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600" name="Google Shape;600;p44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44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44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44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04" name="Google Shape;604;p44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05" name="Google Shape;605;p44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44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07" name="Google Shape;607;p44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08" name="Google Shape;608;p44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4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0" name="Google Shape;610;p44"/>
          <p:cNvSpPr txBox="1"/>
          <p:nvPr/>
        </p:nvSpPr>
        <p:spPr>
          <a:xfrm>
            <a:off x="989675" y="1102450"/>
            <a:ext cx="6243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Fill out the engagement assignment on Gradescope!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Always due before next class.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Takes 1-5 minutes to complete.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